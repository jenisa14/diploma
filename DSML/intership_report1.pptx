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5" r:id="rId1"/>
  </p:sldMasterIdLst>
  <p:sldIdLst>
    <p:sldId id="297" r:id="rId2"/>
    <p:sldId id="299" r:id="rId3"/>
    <p:sldId id="257" r:id="rId4"/>
    <p:sldId id="259" r:id="rId5"/>
    <p:sldId id="261" r:id="rId6"/>
    <p:sldId id="262" r:id="rId7"/>
    <p:sldId id="263" r:id="rId8"/>
    <p:sldId id="264" r:id="rId9"/>
    <p:sldId id="265" r:id="rId10"/>
    <p:sldId id="266" r:id="rId11"/>
    <p:sldId id="267" r:id="rId12"/>
    <p:sldId id="268" r:id="rId13"/>
    <p:sldId id="269" r:id="rId14"/>
    <p:sldId id="270" r:id="rId15"/>
    <p:sldId id="271" r:id="rId16"/>
    <p:sldId id="288" r:id="rId17"/>
    <p:sldId id="274" r:id="rId18"/>
    <p:sldId id="276" r:id="rId19"/>
    <p:sldId id="277" r:id="rId20"/>
    <p:sldId id="278" r:id="rId21"/>
    <p:sldId id="279" r:id="rId22"/>
    <p:sldId id="280" r:id="rId23"/>
    <p:sldId id="281" r:id="rId24"/>
    <p:sldId id="282" r:id="rId25"/>
    <p:sldId id="283" r:id="rId26"/>
    <p:sldId id="284" r:id="rId27"/>
    <p:sldId id="286" r:id="rId28"/>
    <p:sldId id="287" r:id="rId29"/>
    <p:sldId id="289" r:id="rId30"/>
    <p:sldId id="290" r:id="rId31"/>
    <p:sldId id="291" r:id="rId32"/>
    <p:sldId id="292" r:id="rId33"/>
    <p:sldId id="293" r:id="rId34"/>
    <p:sldId id="294" r:id="rId35"/>
    <p:sldId id="295" r:id="rId36"/>
    <p:sldId id="296"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969EAF-20DC-42D2-A0CC-34B3D471FF98}" v="58" dt="2023-09-02T03:11:26.8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5033" autoAdjust="0"/>
  </p:normalViewPr>
  <p:slideViewPr>
    <p:cSldViewPr snapToGrid="0">
      <p:cViewPr varScale="1">
        <p:scale>
          <a:sx n="74" d="100"/>
          <a:sy n="74" d="100"/>
        </p:scale>
        <p:origin x="72" y="1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56C2ED-54A4-480D-B5C8-65C0D62359B9}" type="datetime2">
              <a:rPr lang="en-US" smtClean="0"/>
              <a:pPr/>
              <a:t>Monday, September 11, 2023</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2207426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56C2ED-54A4-480D-B5C8-65C0D62359B9}" type="datetime2">
              <a:rPr lang="en-US" smtClean="0"/>
              <a:pPr/>
              <a:t>Monday, September 11, 2023</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2112095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EDCA73-0A86-4195-A787-75037827079D}" type="datetime2">
              <a:rPr lang="en-US" smtClean="0"/>
              <a:t>Monday, September 11, 2023</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4251758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C75374-B296-498E-A935-80631EA9020D}" type="datetime2">
              <a:rPr lang="en-US" smtClean="0"/>
              <a:t>Monday, September 11, 2023</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72900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98B728-214A-4ABC-8432-5B3A5A66A987}" type="datetime2">
              <a:rPr lang="en-US" smtClean="0"/>
              <a:t>Monday, September 11, 2023</a:t>
            </a:fld>
            <a:endParaRPr lang="en-US" dirty="0"/>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696049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5F02D0-6806-43AF-9888-2359BF40C204}" type="datetime2">
              <a:rPr lang="en-US" smtClean="0"/>
              <a:t>Monday, September 11, 2023</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985365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E14D2D-B1AF-4197-82D6-FC1F8BD05681}" type="datetime2">
              <a:rPr lang="en-US" smtClean="0"/>
              <a:t>Monday, September 11, 2023</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42486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771CEB-9838-4245-91B8-EFBAFE2D8B44}" type="datetime2">
              <a:rPr lang="en-US" smtClean="0"/>
              <a:t>Monday, September 11, 2023</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2705375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D3F6BF-A585-41F8-88DF-7E5D069F892A}" type="datetime2">
              <a:rPr lang="en-US" smtClean="0"/>
              <a:t>Monday, September 11, 2023</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2632841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56C2ED-54A4-480D-B5C8-65C0D62359B9}" type="datetime2">
              <a:rPr lang="en-US" smtClean="0"/>
              <a:pPr/>
              <a:t>Monday, September 11, 2023</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33595223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56C2ED-54A4-480D-B5C8-65C0D62359B9}" type="datetime2">
              <a:rPr lang="en-US" smtClean="0"/>
              <a:pPr/>
              <a:t>Monday, September 11, 2023</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4793604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56C2ED-54A4-480D-B5C8-65C0D62359B9}" type="datetime2">
              <a:rPr lang="en-US" smtClean="0"/>
              <a:pPr/>
              <a:t>Monday, September 11, 2023</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39071975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56C2ED-54A4-480D-B5C8-65C0D62359B9}" type="datetime2">
              <a:rPr lang="en-US" smtClean="0"/>
              <a:pPr/>
              <a:t>Monday, September 11, 2023</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2244319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56C2ED-54A4-480D-B5C8-65C0D62359B9}" type="datetime2">
              <a:rPr lang="en-US" smtClean="0"/>
              <a:pPr/>
              <a:t>Monday, September 11, 2023</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133044642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CF612A-4CB0-4F57-9A87-F049CECB184D}" type="datetime2">
              <a:rPr lang="en-US" smtClean="0"/>
              <a:t>Monday, September 11, 2023</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545927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397F40-C8F7-4897-A6B8-241042F913A9}" type="datetime2">
              <a:rPr lang="en-US" smtClean="0"/>
              <a:t>Monday, September 11, 2023</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1603329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256C2ED-54A4-480D-B5C8-65C0D62359B9}" type="datetime2">
              <a:rPr lang="en-US" smtClean="0"/>
              <a:pPr/>
              <a:t>Monday, September 11, 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spc="200"/>
              <a:t>Sample Footer Text</a:t>
            </a:r>
            <a:endParaRPr lang="en-US" spc="200"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2322826140"/>
      </p:ext>
    </p:extLst>
  </p:cSld>
  <p:clrMap bg1="dk1" tx1="lt1" bg2="dk2" tx2="lt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 id="2147483948" r:id="rId13"/>
    <p:sldLayoutId id="2147483949" r:id="rId14"/>
    <p:sldLayoutId id="2147483950" r:id="rId15"/>
    <p:sldLayoutId id="2147483951"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314A7EA-27E2-3BBB-0FD0-B6D0EF7A9D49}"/>
              </a:ext>
            </a:extLst>
          </p:cNvPr>
          <p:cNvSpPr txBox="1"/>
          <p:nvPr/>
        </p:nvSpPr>
        <p:spPr>
          <a:xfrm>
            <a:off x="2985796" y="410546"/>
            <a:ext cx="6160536" cy="5632311"/>
          </a:xfrm>
          <a:prstGeom prst="rect">
            <a:avLst/>
          </a:prstGeom>
          <a:noFill/>
        </p:spPr>
        <p:txBody>
          <a:bodyPr wrap="square">
            <a:spAutoFit/>
          </a:bodyPr>
          <a:lstStyle/>
          <a:p>
            <a:r>
              <a:rPr lang="en-IN" dirty="0"/>
              <a:t>A.V. PAREKH TECHNICAL INSTITUTE-RAJKOT</a:t>
            </a:r>
          </a:p>
          <a:p>
            <a:r>
              <a:rPr lang="en-IN" dirty="0"/>
              <a:t>		COMPUTER ENGINEERING</a:t>
            </a:r>
          </a:p>
          <a:p>
            <a:endParaRPr lang="en-IN" dirty="0"/>
          </a:p>
          <a:p>
            <a:endParaRPr lang="en-IN" dirty="0"/>
          </a:p>
          <a:p>
            <a:endParaRPr lang="en-IN" dirty="0"/>
          </a:p>
          <a:p>
            <a:r>
              <a:rPr lang="en-IN" dirty="0"/>
              <a:t>		5th SEMESTER</a:t>
            </a:r>
          </a:p>
          <a:p>
            <a:endParaRPr lang="en-IN" dirty="0"/>
          </a:p>
          <a:p>
            <a:endParaRPr lang="en-IN" dirty="0"/>
          </a:p>
          <a:p>
            <a:r>
              <a:rPr lang="en-IN" dirty="0"/>
              <a:t> </a:t>
            </a:r>
          </a:p>
          <a:p>
            <a:r>
              <a:rPr lang="en-IN" dirty="0"/>
              <a:t> 	 Internship Project</a:t>
            </a:r>
          </a:p>
          <a:p>
            <a:r>
              <a:rPr lang="en-IN" dirty="0"/>
              <a:t>		(4350704)</a:t>
            </a:r>
          </a:p>
          <a:p>
            <a:endParaRPr lang="en-IN" dirty="0"/>
          </a:p>
          <a:p>
            <a:endParaRPr lang="en-IN" dirty="0"/>
          </a:p>
          <a:p>
            <a:endParaRPr lang="en-IN" dirty="0"/>
          </a:p>
          <a:p>
            <a:r>
              <a:rPr lang="en-IN" dirty="0"/>
              <a:t>Name Of Student:	Vasani Jenisa k.</a:t>
            </a:r>
          </a:p>
          <a:p>
            <a:r>
              <a:rPr lang="en-IN" dirty="0"/>
              <a:t>Enrollment No:		216020307080</a:t>
            </a:r>
          </a:p>
          <a:p>
            <a:r>
              <a:rPr lang="en-IN" dirty="0"/>
              <a:t>Division:				B</a:t>
            </a:r>
          </a:p>
          <a:p>
            <a:r>
              <a:rPr lang="en-IN" dirty="0"/>
              <a:t>Academic Year:		2023-2024(ODD)</a:t>
            </a:r>
          </a:p>
          <a:p>
            <a:endParaRPr lang="en-IN" dirty="0"/>
          </a:p>
          <a:p>
            <a:r>
              <a:rPr lang="en-IN" dirty="0"/>
              <a:t> </a:t>
            </a:r>
          </a:p>
        </p:txBody>
      </p:sp>
      <p:sp>
        <p:nvSpPr>
          <p:cNvPr id="8" name="TextBox 7">
            <a:extLst>
              <a:ext uri="{FF2B5EF4-FFF2-40B4-BE49-F238E27FC236}">
                <a16:creationId xmlns:a16="http://schemas.microsoft.com/office/drawing/2014/main" id="{41A6E72A-CCF5-E75D-DCF8-37CEBB4F02C5}"/>
              </a:ext>
            </a:extLst>
          </p:cNvPr>
          <p:cNvSpPr txBox="1"/>
          <p:nvPr/>
        </p:nvSpPr>
        <p:spPr>
          <a:xfrm>
            <a:off x="3048778" y="3235003"/>
            <a:ext cx="6097554" cy="369332"/>
          </a:xfrm>
          <a:prstGeom prst="rect">
            <a:avLst/>
          </a:prstGeom>
          <a:noFill/>
        </p:spPr>
        <p:txBody>
          <a:bodyPr wrap="square">
            <a:spAutoFit/>
          </a:bodyPr>
          <a:lstStyle/>
          <a:p>
            <a:endParaRPr lang="en-IN" dirty="0"/>
          </a:p>
        </p:txBody>
      </p:sp>
    </p:spTree>
    <p:extLst>
      <p:ext uri="{BB962C8B-B14F-4D97-AF65-F5344CB8AC3E}">
        <p14:creationId xmlns:p14="http://schemas.microsoft.com/office/powerpoint/2010/main" val="158639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Premium Vector | Data science concept, blue background. machine learning,  big data, database, classification">
            <a:extLst>
              <a:ext uri="{FF2B5EF4-FFF2-40B4-BE49-F238E27FC236}">
                <a16:creationId xmlns:a16="http://schemas.microsoft.com/office/drawing/2014/main" id="{5BBDB917-57F6-BDC1-C591-DDF4A37885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65" y="1501292"/>
            <a:ext cx="4944290" cy="266288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remium Vector | Artificial intelligence and machine learning poster">
            <a:extLst>
              <a:ext uri="{FF2B5EF4-FFF2-40B4-BE49-F238E27FC236}">
                <a16:creationId xmlns:a16="http://schemas.microsoft.com/office/drawing/2014/main" id="{E89F8224-1797-BAA0-714C-8C45CF9747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7756" y="3526971"/>
            <a:ext cx="4494244" cy="33310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D08575F-1249-5C4C-1B99-669916AB31A3}"/>
              </a:ext>
            </a:extLst>
          </p:cNvPr>
          <p:cNvSpPr txBox="1"/>
          <p:nvPr/>
        </p:nvSpPr>
        <p:spPr>
          <a:xfrm flipH="1">
            <a:off x="5025155" y="2120210"/>
            <a:ext cx="7166845" cy="1015663"/>
          </a:xfrm>
          <a:prstGeom prst="rect">
            <a:avLst/>
          </a:prstGeom>
          <a:noFill/>
        </p:spPr>
        <p:txBody>
          <a:bodyPr wrap="square" rtlCol="0">
            <a:spAutoFit/>
          </a:bodyPr>
          <a:lstStyle/>
          <a:p>
            <a:pPr algn="just"/>
            <a:r>
              <a:rPr lang="en-US" sz="1200" b="1" dirty="0">
                <a:effectLst/>
                <a:latin typeface="Times New Roman" panose="02020603050405020304" pitchFamily="18" charset="0"/>
                <a:ea typeface="Times New Roman" panose="02020603050405020304" pitchFamily="18" charset="0"/>
              </a:rPr>
              <a:t>Data Science</a:t>
            </a:r>
            <a:r>
              <a:rPr lang="en-US" sz="1200" dirty="0">
                <a:effectLst/>
                <a:latin typeface="Times New Roman" panose="02020603050405020304" pitchFamily="18" charset="0"/>
                <a:ea typeface="Times New Roman" panose="02020603050405020304" pitchFamily="18" charset="0"/>
              </a:rPr>
              <a:t>: Data science is a multidisciplinary field that combines various techniques, algorithms, processes, and systems to extract valuable insights and knowledge from data. It involves collecting, cleaning, analyzing, and interpreting data to solve complex problems and make informed decisions. Data scientists utilize statistical methods, programming skills, and domain expertise to uncover patterns, trends, and correlations in data, ultimately enabling organizations to optimize processes, predict outcomes, and gain a competitive edge.</a:t>
            </a:r>
            <a:endParaRPr lang="en-IN" sz="1200" dirty="0"/>
          </a:p>
        </p:txBody>
      </p:sp>
      <p:sp>
        <p:nvSpPr>
          <p:cNvPr id="4" name="TextBox 3">
            <a:extLst>
              <a:ext uri="{FF2B5EF4-FFF2-40B4-BE49-F238E27FC236}">
                <a16:creationId xmlns:a16="http://schemas.microsoft.com/office/drawing/2014/main" id="{761D7D20-38C4-803F-8D95-9667B8EC7A94}"/>
              </a:ext>
            </a:extLst>
          </p:cNvPr>
          <p:cNvSpPr txBox="1"/>
          <p:nvPr/>
        </p:nvSpPr>
        <p:spPr>
          <a:xfrm flipH="1">
            <a:off x="83976" y="5192485"/>
            <a:ext cx="7613780" cy="1200329"/>
          </a:xfrm>
          <a:prstGeom prst="rect">
            <a:avLst/>
          </a:prstGeom>
          <a:noFill/>
        </p:spPr>
        <p:txBody>
          <a:bodyPr wrap="square" rtlCol="0">
            <a:spAutoFit/>
          </a:bodyPr>
          <a:lstStyle/>
          <a:p>
            <a:pPr algn="just"/>
            <a:r>
              <a:rPr lang="en-US" sz="1200" b="1" dirty="0">
                <a:effectLst/>
                <a:latin typeface="Times New Roman" panose="02020603050405020304" pitchFamily="18" charset="0"/>
                <a:ea typeface="Times New Roman" panose="02020603050405020304" pitchFamily="18" charset="0"/>
              </a:rPr>
              <a:t>Machine Learning</a:t>
            </a:r>
            <a:r>
              <a:rPr lang="en-US" sz="1200" dirty="0">
                <a:effectLst/>
                <a:latin typeface="Times New Roman" panose="02020603050405020304" pitchFamily="18" charset="0"/>
                <a:ea typeface="Times New Roman" panose="02020603050405020304" pitchFamily="18" charset="0"/>
              </a:rPr>
              <a:t>: Machine learning is a subset of artificial intelligence that focuses on developing algorithms and models that enable computers to learn from and make predictions or decisions based on data. It involves training algorithms on large datasets to recognize patterns and relationships, allowing them to improve their performance over time. Machine learning techniques include supervised learning (learning from labeled data), unsupervised learning (finding patterns in unlabeled data), and reinforcement learning (learning through trial and error). Applications of machine learning range from image and speech recognition to recommendation systems and autonomous vehicles.</a:t>
            </a:r>
            <a:endParaRPr lang="en-IN" sz="1200" dirty="0"/>
          </a:p>
        </p:txBody>
      </p:sp>
      <p:sp>
        <p:nvSpPr>
          <p:cNvPr id="5" name="TextBox 4">
            <a:extLst>
              <a:ext uri="{FF2B5EF4-FFF2-40B4-BE49-F238E27FC236}">
                <a16:creationId xmlns:a16="http://schemas.microsoft.com/office/drawing/2014/main" id="{A54F2542-6E9B-2A29-2D31-3605325596B4}"/>
              </a:ext>
            </a:extLst>
          </p:cNvPr>
          <p:cNvSpPr txBox="1"/>
          <p:nvPr/>
        </p:nvSpPr>
        <p:spPr>
          <a:xfrm flipH="1">
            <a:off x="3022184" y="452957"/>
            <a:ext cx="6849604" cy="461665"/>
          </a:xfrm>
          <a:prstGeom prst="rect">
            <a:avLst/>
          </a:prstGeom>
          <a:noFill/>
        </p:spPr>
        <p:txBody>
          <a:bodyPr wrap="square" rtlCol="0">
            <a:spAutoFit/>
          </a:bodyPr>
          <a:lstStyle/>
          <a:p>
            <a:r>
              <a:rPr lang="en-US" sz="2400" u="sng" dirty="0"/>
              <a:t>Data science and machine learning</a:t>
            </a:r>
            <a:endParaRPr lang="en-IN" sz="2400" u="sng" dirty="0"/>
          </a:p>
        </p:txBody>
      </p:sp>
    </p:spTree>
    <p:extLst>
      <p:ext uri="{BB962C8B-B14F-4D97-AF65-F5344CB8AC3E}">
        <p14:creationId xmlns:p14="http://schemas.microsoft.com/office/powerpoint/2010/main" val="3619318925"/>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E2911-4024-9396-50F7-5EFA63FD0F43}"/>
              </a:ext>
            </a:extLst>
          </p:cNvPr>
          <p:cNvSpPr>
            <a:spLocks noGrp="1"/>
          </p:cNvSpPr>
          <p:nvPr>
            <p:ph type="title"/>
          </p:nvPr>
        </p:nvSpPr>
        <p:spPr>
          <a:xfrm>
            <a:off x="4499610" y="340750"/>
            <a:ext cx="4151630" cy="573442"/>
          </a:xfrm>
        </p:spPr>
        <p:txBody>
          <a:bodyPr>
            <a:normAutofit fontScale="90000"/>
          </a:bodyPr>
          <a:lstStyle/>
          <a:p>
            <a:r>
              <a:rPr lang="en-US" sz="1600" b="1" u="sng" strike="noStrike" dirty="0">
                <a:solidFill>
                  <a:schemeClr val="tx1"/>
                </a:solidFill>
                <a:effectLst/>
                <a:latin typeface="Times New Roman" panose="02020603050405020304" pitchFamily="18" charset="0"/>
                <a:ea typeface="Times New Roman" panose="02020603050405020304" pitchFamily="18" charset="0"/>
              </a:rPr>
              <a:t>Daily Tasks and Activities</a:t>
            </a:r>
            <a:br>
              <a:rPr lang="en-IN" sz="4400" u="none" strike="noStrike" dirty="0">
                <a:solidFill>
                  <a:schemeClr val="tx1"/>
                </a:solidFill>
                <a:effectLst/>
                <a:latin typeface="Times New Roman" panose="02020603050405020304" pitchFamily="18" charset="0"/>
                <a:ea typeface="Times New Roman" panose="02020603050405020304" pitchFamily="18" charset="0"/>
              </a:rPr>
            </a:br>
            <a:endParaRPr lang="en-IN" dirty="0">
              <a:solidFill>
                <a:schemeClr val="tx1"/>
              </a:solidFill>
            </a:endParaRPr>
          </a:p>
        </p:txBody>
      </p:sp>
      <p:sp>
        <p:nvSpPr>
          <p:cNvPr id="3" name="Content Placeholder 2">
            <a:extLst>
              <a:ext uri="{FF2B5EF4-FFF2-40B4-BE49-F238E27FC236}">
                <a16:creationId xmlns:a16="http://schemas.microsoft.com/office/drawing/2014/main" id="{55DB73F7-41F6-4854-2EA2-0751378E9BF8}"/>
              </a:ext>
            </a:extLst>
          </p:cNvPr>
          <p:cNvSpPr>
            <a:spLocks noGrp="1"/>
          </p:cNvSpPr>
          <p:nvPr>
            <p:ph idx="1"/>
          </p:nvPr>
        </p:nvSpPr>
        <p:spPr>
          <a:xfrm>
            <a:off x="1097280" y="1676400"/>
            <a:ext cx="8952573" cy="5181600"/>
          </a:xfrm>
        </p:spPr>
        <p:txBody>
          <a:bodyPr>
            <a:normAutofit fontScale="55000" lnSpcReduction="20000"/>
          </a:bodyPr>
          <a:lstStyle/>
          <a:p>
            <a:pPr indent="0">
              <a:buNone/>
            </a:pPr>
            <a:r>
              <a:rPr lang="en-IN" sz="1800" b="1" dirty="0">
                <a:effectLst/>
                <a:latin typeface="Times New Roman" panose="02020603050405020304" pitchFamily="18" charset="0"/>
                <a:ea typeface="Times New Roman" panose="02020603050405020304" pitchFamily="18" charset="0"/>
              </a:rPr>
              <a:t>1. Variables and Data Types:</a:t>
            </a:r>
            <a:r>
              <a:rPr lang="en-IN" sz="1800" dirty="0">
                <a:effectLst/>
                <a:latin typeface="Times New Roman" panose="02020603050405020304" pitchFamily="18" charset="0"/>
                <a:ea typeface="Times New Roman" panose="02020603050405020304" pitchFamily="18" charset="0"/>
              </a:rPr>
              <a:t> Introduction to variables, numeric (integers, floats), strings, and boolean data types.</a:t>
            </a:r>
          </a:p>
          <a:p>
            <a:pPr indent="0">
              <a:buNone/>
            </a:pPr>
            <a:r>
              <a:rPr lang="en-IN" sz="1800" b="1" dirty="0">
                <a:effectLst/>
                <a:latin typeface="Times New Roman" panose="02020603050405020304" pitchFamily="18" charset="0"/>
                <a:ea typeface="Times New Roman" panose="02020603050405020304" pitchFamily="18" charset="0"/>
              </a:rPr>
              <a:t>2.  Operators:</a:t>
            </a:r>
            <a:r>
              <a:rPr lang="en-IN" sz="1800" dirty="0">
                <a:effectLst/>
                <a:latin typeface="Times New Roman" panose="02020603050405020304" pitchFamily="18" charset="0"/>
                <a:ea typeface="Times New Roman" panose="02020603050405020304" pitchFamily="18" charset="0"/>
              </a:rPr>
              <a:t> Arithmetic, comparison, logical, and assignment operators for calculations and decision-making.</a:t>
            </a:r>
          </a:p>
          <a:p>
            <a:pPr indent="0">
              <a:buNone/>
            </a:pPr>
            <a:r>
              <a:rPr lang="en-IN" sz="1800" b="1" dirty="0">
                <a:effectLst/>
                <a:latin typeface="Times New Roman" panose="02020603050405020304" pitchFamily="18" charset="0"/>
                <a:ea typeface="Times New Roman" panose="02020603050405020304" pitchFamily="18" charset="0"/>
              </a:rPr>
              <a:t>3.  Control Structures:</a:t>
            </a:r>
            <a:r>
              <a:rPr lang="en-IN" sz="1800" dirty="0">
                <a:effectLst/>
                <a:latin typeface="Times New Roman" panose="02020603050405020304" pitchFamily="18" charset="0"/>
                <a:ea typeface="Times New Roman" panose="02020603050405020304" pitchFamily="18" charset="0"/>
              </a:rPr>
              <a:t> Usage of if statements for conditional execution, loops (for and while) for repetitive tasks.</a:t>
            </a:r>
          </a:p>
          <a:p>
            <a:pPr indent="0">
              <a:buNone/>
            </a:pPr>
            <a:r>
              <a:rPr lang="en-IN" sz="1800" b="1" dirty="0">
                <a:effectLst/>
                <a:latin typeface="Times New Roman" panose="02020603050405020304" pitchFamily="18" charset="0"/>
                <a:ea typeface="Times New Roman" panose="02020603050405020304" pitchFamily="18" charset="0"/>
              </a:rPr>
              <a:t>4.  Functions:</a:t>
            </a:r>
            <a:r>
              <a:rPr lang="en-IN" sz="1800" dirty="0">
                <a:effectLst/>
                <a:latin typeface="Times New Roman" panose="02020603050405020304" pitchFamily="18" charset="0"/>
                <a:ea typeface="Times New Roman" panose="02020603050405020304" pitchFamily="18" charset="0"/>
              </a:rPr>
              <a:t> Creating and using functions to encapsulate code, improve modularity, and promote reusability.</a:t>
            </a:r>
          </a:p>
          <a:p>
            <a:pPr indent="0">
              <a:buNone/>
            </a:pPr>
            <a:r>
              <a:rPr lang="en-IN" sz="1800" b="1" dirty="0">
                <a:effectLst/>
                <a:latin typeface="Times New Roman" panose="02020603050405020304" pitchFamily="18" charset="0"/>
                <a:ea typeface="Times New Roman" panose="02020603050405020304" pitchFamily="18" charset="0"/>
              </a:rPr>
              <a:t>5.  Data Structures:</a:t>
            </a:r>
            <a:r>
              <a:rPr lang="en-IN" sz="1800" dirty="0">
                <a:effectLst/>
                <a:latin typeface="Times New Roman" panose="02020603050405020304" pitchFamily="18" charset="0"/>
                <a:ea typeface="Times New Roman" panose="02020603050405020304" pitchFamily="18" charset="0"/>
              </a:rPr>
              <a:t> Lists, tuples, and dictionaries for storing and managing collections of data.</a:t>
            </a:r>
          </a:p>
          <a:p>
            <a:pPr indent="0">
              <a:buNone/>
            </a:pPr>
            <a:r>
              <a:rPr lang="en-IN" sz="1800" b="1" dirty="0">
                <a:effectLst/>
                <a:latin typeface="Times New Roman" panose="02020603050405020304" pitchFamily="18" charset="0"/>
                <a:ea typeface="Times New Roman" panose="02020603050405020304" pitchFamily="18" charset="0"/>
              </a:rPr>
              <a:t>6.  Strings and String Manipulation:</a:t>
            </a:r>
            <a:r>
              <a:rPr lang="en-IN" sz="1800" dirty="0">
                <a:effectLst/>
                <a:latin typeface="Times New Roman" panose="02020603050405020304" pitchFamily="18" charset="0"/>
                <a:ea typeface="Times New Roman" panose="02020603050405020304" pitchFamily="18" charset="0"/>
              </a:rPr>
              <a:t> String methods, slicing, concatenation, and formatting.</a:t>
            </a:r>
          </a:p>
          <a:p>
            <a:pPr indent="0">
              <a:buNone/>
            </a:pPr>
            <a:r>
              <a:rPr lang="en-IN" sz="1800" b="1" dirty="0">
                <a:effectLst/>
                <a:latin typeface="Times New Roman" panose="02020603050405020304" pitchFamily="18" charset="0"/>
                <a:ea typeface="Times New Roman" panose="02020603050405020304" pitchFamily="18" charset="0"/>
              </a:rPr>
              <a:t>7.  Input and Output:</a:t>
            </a:r>
            <a:r>
              <a:rPr lang="en-IN" sz="1800" dirty="0">
                <a:effectLst/>
                <a:latin typeface="Times New Roman" panose="02020603050405020304" pitchFamily="18" charset="0"/>
                <a:ea typeface="Times New Roman" panose="02020603050405020304" pitchFamily="18" charset="0"/>
              </a:rPr>
              <a:t> Handling user input and displaying output using print statements.</a:t>
            </a:r>
          </a:p>
          <a:p>
            <a:pPr indent="0">
              <a:buNone/>
            </a:pPr>
            <a:r>
              <a:rPr lang="en-IN" sz="1800" b="1" dirty="0">
                <a:effectLst/>
                <a:latin typeface="Times New Roman" panose="02020603050405020304" pitchFamily="18" charset="0"/>
                <a:ea typeface="Times New Roman" panose="02020603050405020304" pitchFamily="18" charset="0"/>
              </a:rPr>
              <a:t>8.  Exception Handling:</a:t>
            </a:r>
            <a:r>
              <a:rPr lang="en-IN" sz="1800" dirty="0">
                <a:effectLst/>
                <a:latin typeface="Times New Roman" panose="02020603050405020304" pitchFamily="18" charset="0"/>
                <a:ea typeface="Times New Roman" panose="02020603050405020304" pitchFamily="18" charset="0"/>
              </a:rPr>
              <a:t> Using try-except blocks to handle errors gracefully.</a:t>
            </a:r>
          </a:p>
          <a:p>
            <a:pPr indent="0">
              <a:buNone/>
            </a:pPr>
            <a:r>
              <a:rPr lang="en-IN" sz="1800" b="1" dirty="0">
                <a:effectLst/>
                <a:latin typeface="Times New Roman" panose="02020603050405020304" pitchFamily="18" charset="0"/>
                <a:ea typeface="Times New Roman" panose="02020603050405020304" pitchFamily="18" charset="0"/>
              </a:rPr>
              <a:t>9.  File Handling:</a:t>
            </a:r>
            <a:r>
              <a:rPr lang="en-IN" sz="1800" dirty="0">
                <a:effectLst/>
                <a:latin typeface="Times New Roman" panose="02020603050405020304" pitchFamily="18" charset="0"/>
                <a:ea typeface="Times New Roman" panose="02020603050405020304" pitchFamily="18" charset="0"/>
              </a:rPr>
              <a:t> Reading from and writing to files, managing file objects.</a:t>
            </a:r>
          </a:p>
          <a:p>
            <a:pPr indent="0">
              <a:buNone/>
            </a:pPr>
            <a:r>
              <a:rPr lang="en-IN" sz="1800" b="1" dirty="0">
                <a:effectLst/>
                <a:latin typeface="Times New Roman" panose="02020603050405020304" pitchFamily="18" charset="0"/>
                <a:ea typeface="Times New Roman" panose="02020603050405020304" pitchFamily="18" charset="0"/>
              </a:rPr>
              <a:t>10.  Modules and Libraries:</a:t>
            </a:r>
            <a:r>
              <a:rPr lang="en-IN" sz="1800" dirty="0">
                <a:effectLst/>
                <a:latin typeface="Times New Roman" panose="02020603050405020304" pitchFamily="18" charset="0"/>
                <a:ea typeface="Times New Roman" panose="02020603050405020304" pitchFamily="18" charset="0"/>
              </a:rPr>
              <a:t> Importing and using external modules and libraries to extend Python's capabilities.</a:t>
            </a:r>
          </a:p>
          <a:p>
            <a:pPr indent="0">
              <a:buNone/>
            </a:pPr>
            <a:r>
              <a:rPr lang="en-IN" sz="1800" b="1" dirty="0">
                <a:effectLst/>
                <a:latin typeface="Times New Roman" panose="02020603050405020304" pitchFamily="18" charset="0"/>
                <a:ea typeface="Times New Roman" panose="02020603050405020304" pitchFamily="18" charset="0"/>
              </a:rPr>
              <a:t>11.  Lists and List Comprehensions:</a:t>
            </a:r>
            <a:r>
              <a:rPr lang="en-IN" sz="1800" dirty="0">
                <a:effectLst/>
                <a:latin typeface="Times New Roman" panose="02020603050405020304" pitchFamily="18" charset="0"/>
                <a:ea typeface="Times New Roman" panose="02020603050405020304" pitchFamily="18" charset="0"/>
              </a:rPr>
              <a:t> Creating lists, iterating through them, and using list comprehensions for concise operations.</a:t>
            </a:r>
          </a:p>
          <a:p>
            <a:pPr indent="0">
              <a:buNone/>
            </a:pPr>
            <a:r>
              <a:rPr lang="en-IN" sz="1800" b="1" dirty="0">
                <a:effectLst/>
                <a:latin typeface="Times New Roman" panose="02020603050405020304" pitchFamily="18" charset="0"/>
                <a:ea typeface="Times New Roman" panose="02020603050405020304" pitchFamily="18" charset="0"/>
              </a:rPr>
              <a:t>12.  Dictionaries and Sets:</a:t>
            </a:r>
            <a:r>
              <a:rPr lang="en-IN" sz="1800" dirty="0">
                <a:effectLst/>
                <a:latin typeface="Times New Roman" panose="02020603050405020304" pitchFamily="18" charset="0"/>
                <a:ea typeface="Times New Roman" panose="02020603050405020304" pitchFamily="18" charset="0"/>
              </a:rPr>
              <a:t> Creating dictionaries, accessing values, and using sets for unique collections.</a:t>
            </a:r>
          </a:p>
          <a:p>
            <a:pPr indent="0">
              <a:buNone/>
            </a:pPr>
            <a:r>
              <a:rPr lang="en-IN" sz="1800" dirty="0">
                <a:effectLst/>
                <a:latin typeface="Times New Roman" panose="02020603050405020304" pitchFamily="18" charset="0"/>
                <a:ea typeface="Times New Roman" panose="02020603050405020304" pitchFamily="18" charset="0"/>
              </a:rPr>
              <a:t>13.  </a:t>
            </a:r>
            <a:r>
              <a:rPr lang="en-IN" sz="1800" b="1" dirty="0">
                <a:effectLst/>
                <a:latin typeface="Times New Roman" panose="02020603050405020304" pitchFamily="18" charset="0"/>
                <a:ea typeface="Times New Roman" panose="02020603050405020304" pitchFamily="18" charset="0"/>
              </a:rPr>
              <a:t>Classes and Objects</a:t>
            </a:r>
            <a:r>
              <a:rPr lang="en-IN" sz="1800" dirty="0">
                <a:effectLst/>
                <a:latin typeface="Times New Roman" panose="02020603050405020304" pitchFamily="18" charset="0"/>
                <a:ea typeface="Times New Roman" panose="02020603050405020304" pitchFamily="18" charset="0"/>
              </a:rPr>
              <a:t>: Object-oriented programming basics, defining classes, creating objects, and using methods and attributes.</a:t>
            </a:r>
          </a:p>
          <a:p>
            <a:pPr indent="0">
              <a:buNone/>
            </a:pPr>
            <a:r>
              <a:rPr lang="en-IN" sz="1800" dirty="0">
                <a:effectLst/>
                <a:latin typeface="Times New Roman" panose="02020603050405020304" pitchFamily="18" charset="0"/>
                <a:ea typeface="Times New Roman" panose="02020603050405020304" pitchFamily="18" charset="0"/>
              </a:rPr>
              <a:t>14.  </a:t>
            </a:r>
            <a:r>
              <a:rPr lang="en-IN" sz="1800" b="1" dirty="0">
                <a:effectLst/>
                <a:latin typeface="Times New Roman" panose="02020603050405020304" pitchFamily="18" charset="0"/>
                <a:ea typeface="Times New Roman" panose="02020603050405020304" pitchFamily="18" charset="0"/>
              </a:rPr>
              <a:t>Inheritance and Polymorphism</a:t>
            </a:r>
            <a:r>
              <a:rPr lang="en-IN" sz="1800" dirty="0">
                <a:effectLst/>
                <a:latin typeface="Times New Roman" panose="02020603050405020304" pitchFamily="18" charset="0"/>
                <a:ea typeface="Times New Roman" panose="02020603050405020304" pitchFamily="18" charset="0"/>
              </a:rPr>
              <a:t>: Creating class hierarchies using inheritance and implementing polymorphic behaviour.</a:t>
            </a:r>
          </a:p>
          <a:p>
            <a:pPr indent="0">
              <a:buNone/>
            </a:pPr>
            <a:r>
              <a:rPr lang="en-IN" sz="1800" dirty="0">
                <a:effectLst/>
                <a:latin typeface="Times New Roman" panose="02020603050405020304" pitchFamily="18" charset="0"/>
                <a:ea typeface="Times New Roman" panose="02020603050405020304" pitchFamily="18" charset="0"/>
              </a:rPr>
              <a:t>15</a:t>
            </a:r>
            <a:r>
              <a:rPr lang="en-IN" sz="1800" b="1" dirty="0">
                <a:effectLst/>
                <a:latin typeface="Times New Roman" panose="02020603050405020304" pitchFamily="18" charset="0"/>
                <a:ea typeface="Times New Roman" panose="02020603050405020304" pitchFamily="18" charset="0"/>
              </a:rPr>
              <a:t>.  Packages and Modules</a:t>
            </a:r>
            <a:r>
              <a:rPr lang="en-IN" sz="1800" dirty="0">
                <a:effectLst/>
                <a:latin typeface="Times New Roman" panose="02020603050405020304" pitchFamily="18" charset="0"/>
                <a:ea typeface="Times New Roman" panose="02020603050405020304" pitchFamily="18" charset="0"/>
              </a:rPr>
              <a:t>: Structuring code into packages and modules for better organization and maintainability.</a:t>
            </a:r>
          </a:p>
          <a:p>
            <a:pPr indent="0">
              <a:buNone/>
            </a:pPr>
            <a:r>
              <a:rPr lang="en-IN" sz="1800" dirty="0">
                <a:effectLst/>
                <a:latin typeface="Times New Roman" panose="02020603050405020304" pitchFamily="18" charset="0"/>
                <a:ea typeface="Times New Roman" panose="02020603050405020304" pitchFamily="18" charset="0"/>
              </a:rPr>
              <a:t>16</a:t>
            </a:r>
            <a:r>
              <a:rPr lang="en-IN" sz="1800" b="1" dirty="0">
                <a:effectLst/>
                <a:latin typeface="Times New Roman" panose="02020603050405020304" pitchFamily="18" charset="0"/>
                <a:ea typeface="Times New Roman" panose="02020603050405020304" pitchFamily="18" charset="0"/>
              </a:rPr>
              <a:t>.  Scope and Lifetime</a:t>
            </a:r>
            <a:r>
              <a:rPr lang="en-IN" sz="1800" dirty="0">
                <a:effectLst/>
                <a:latin typeface="Times New Roman" panose="02020603050405020304" pitchFamily="18" charset="0"/>
                <a:ea typeface="Times New Roman" panose="02020603050405020304" pitchFamily="18" charset="0"/>
              </a:rPr>
              <a:t>: Understanding variable scope and lifetime, global and local </a:t>
            </a:r>
            <a:r>
              <a:rPr lang="en-IN" sz="3700" dirty="0">
                <a:effectLst/>
                <a:latin typeface="Times New Roman" panose="02020603050405020304" pitchFamily="18" charset="0"/>
                <a:ea typeface="Times New Roman" panose="02020603050405020304" pitchFamily="18" charset="0"/>
              </a:rPr>
              <a:t>variables</a:t>
            </a:r>
            <a:r>
              <a:rPr lang="en-IN" sz="1800" dirty="0">
                <a:effectLst/>
                <a:latin typeface="Times New Roman" panose="02020603050405020304" pitchFamily="18" charset="0"/>
                <a:ea typeface="Times New Roman" panose="02020603050405020304" pitchFamily="18" charset="0"/>
              </a:rPr>
              <a:t>.</a:t>
            </a:r>
          </a:p>
          <a:p>
            <a:pPr indent="0">
              <a:buNone/>
            </a:pPr>
            <a:r>
              <a:rPr lang="en-IN" sz="1800" dirty="0">
                <a:effectLst/>
                <a:latin typeface="Times New Roman" panose="02020603050405020304" pitchFamily="18" charset="0"/>
                <a:ea typeface="Times New Roman" panose="02020603050405020304" pitchFamily="18" charset="0"/>
              </a:rPr>
              <a:t>17.  </a:t>
            </a:r>
            <a:r>
              <a:rPr lang="en-IN" sz="1800" b="1" dirty="0">
                <a:effectLst/>
                <a:latin typeface="Times New Roman" panose="02020603050405020304" pitchFamily="18" charset="0"/>
                <a:ea typeface="Times New Roman" panose="02020603050405020304" pitchFamily="18" charset="0"/>
              </a:rPr>
              <a:t>Lambda Functions</a:t>
            </a:r>
            <a:r>
              <a:rPr lang="en-IN" sz="1800" dirty="0">
                <a:effectLst/>
                <a:latin typeface="Times New Roman" panose="02020603050405020304" pitchFamily="18" charset="0"/>
                <a:ea typeface="Times New Roman" panose="02020603050405020304" pitchFamily="18" charset="0"/>
              </a:rPr>
              <a:t>: Creating small, anonymous functions using lambda expressions.</a:t>
            </a:r>
          </a:p>
          <a:p>
            <a:pPr indent="0">
              <a:buNone/>
            </a:pPr>
            <a:r>
              <a:rPr lang="en-IN" sz="1800" dirty="0">
                <a:effectLst/>
                <a:latin typeface="Times New Roman" panose="02020603050405020304" pitchFamily="18" charset="0"/>
                <a:ea typeface="Times New Roman" panose="02020603050405020304" pitchFamily="18" charset="0"/>
              </a:rPr>
              <a:t>18</a:t>
            </a:r>
            <a:r>
              <a:rPr lang="en-IN" sz="1800" b="1" dirty="0">
                <a:effectLst/>
                <a:latin typeface="Times New Roman" panose="02020603050405020304" pitchFamily="18" charset="0"/>
                <a:ea typeface="Times New Roman" panose="02020603050405020304" pitchFamily="18" charset="0"/>
              </a:rPr>
              <a:t>.  List Manipulation</a:t>
            </a:r>
            <a:r>
              <a:rPr lang="en-IN" sz="1800" dirty="0">
                <a:effectLst/>
                <a:latin typeface="Times New Roman" panose="02020603050405020304" pitchFamily="18" charset="0"/>
                <a:ea typeface="Times New Roman" panose="02020603050405020304" pitchFamily="18" charset="0"/>
              </a:rPr>
              <a:t>: Using methods like append, remove, sort, and reverse to modify lists.</a:t>
            </a:r>
          </a:p>
          <a:p>
            <a:pPr indent="0">
              <a:buNone/>
            </a:pPr>
            <a:r>
              <a:rPr lang="en-IN" sz="1800" dirty="0">
                <a:effectLst/>
                <a:latin typeface="Times New Roman" panose="02020603050405020304" pitchFamily="18" charset="0"/>
                <a:ea typeface="Times New Roman" panose="02020603050405020304" pitchFamily="18" charset="0"/>
              </a:rPr>
              <a:t>19.  </a:t>
            </a:r>
            <a:r>
              <a:rPr lang="en-US" sz="1800" b="1" dirty="0">
                <a:effectLst/>
                <a:latin typeface="Times New Roman" panose="02020603050405020304" pitchFamily="18" charset="0"/>
                <a:ea typeface="Times New Roman" panose="02020603050405020304" pitchFamily="18" charset="0"/>
              </a:rPr>
              <a:t>Iterators and Iterables</a:t>
            </a:r>
            <a:r>
              <a:rPr lang="en-IN" sz="1800" b="1" dirty="0">
                <a:effectLst/>
                <a:latin typeface="Times New Roman" panose="02020603050405020304" pitchFamily="18" charset="0"/>
                <a:ea typeface="Times New Roman" panose="02020603050405020304" pitchFamily="18" charset="0"/>
              </a:rPr>
              <a:t>:</a:t>
            </a:r>
            <a:r>
              <a:rPr lang="en-IN" sz="1800" dirty="0">
                <a:effectLst/>
                <a:latin typeface="Times New Roman" panose="02020603050405020304" pitchFamily="18" charset="0"/>
                <a:ea typeface="Times New Roman" panose="02020603050405020304" pitchFamily="18" charset="0"/>
              </a:rPr>
              <a:t> Understanding </a:t>
            </a:r>
            <a:r>
              <a:rPr lang="en-US" sz="1800" dirty="0">
                <a:effectLst/>
                <a:latin typeface="Times New Roman" panose="02020603050405020304" pitchFamily="18" charset="0"/>
                <a:ea typeface="Times New Roman" panose="02020603050405020304" pitchFamily="18" charset="0"/>
              </a:rPr>
              <a:t>iterable</a:t>
            </a:r>
            <a:r>
              <a:rPr lang="en-IN" sz="1800" dirty="0">
                <a:effectLst/>
                <a:latin typeface="Times New Roman" panose="02020603050405020304" pitchFamily="18" charset="0"/>
                <a:ea typeface="Times New Roman" panose="02020603050405020304" pitchFamily="18" charset="0"/>
              </a:rPr>
              <a:t> objects and using iterators for looping.</a:t>
            </a:r>
          </a:p>
          <a:p>
            <a:pPr indent="0">
              <a:buNone/>
            </a:pPr>
            <a:r>
              <a:rPr lang="en-IN" sz="1800" dirty="0">
                <a:effectLst/>
                <a:latin typeface="Times New Roman" panose="02020603050405020304" pitchFamily="18" charset="0"/>
                <a:ea typeface="Times New Roman" panose="02020603050405020304" pitchFamily="18" charset="0"/>
              </a:rPr>
              <a:t>20.  </a:t>
            </a:r>
            <a:r>
              <a:rPr lang="en-IN" sz="1800" b="1" dirty="0">
                <a:effectLst/>
                <a:latin typeface="Times New Roman" panose="02020603050405020304" pitchFamily="18" charset="0"/>
                <a:ea typeface="Times New Roman" panose="02020603050405020304" pitchFamily="18" charset="0"/>
              </a:rPr>
              <a:t>Comprehensions: </a:t>
            </a:r>
            <a:r>
              <a:rPr lang="en-IN" sz="1800" dirty="0">
                <a:effectLst/>
                <a:latin typeface="Times New Roman" panose="02020603050405020304" pitchFamily="18" charset="0"/>
                <a:ea typeface="Times New Roman" panose="02020603050405020304" pitchFamily="18" charset="0"/>
              </a:rPr>
              <a:t>List comprehensions, dictionary comprehensions, and set comprehensions for concise data creation.</a:t>
            </a:r>
          </a:p>
          <a:p>
            <a:pPr marL="0" indent="0">
              <a:buNone/>
            </a:pPr>
            <a:endParaRPr lang="en-IN" dirty="0"/>
          </a:p>
        </p:txBody>
      </p:sp>
      <p:sp>
        <p:nvSpPr>
          <p:cNvPr id="4" name="TextBox 3">
            <a:extLst>
              <a:ext uri="{FF2B5EF4-FFF2-40B4-BE49-F238E27FC236}">
                <a16:creationId xmlns:a16="http://schemas.microsoft.com/office/drawing/2014/main" id="{0B595312-BB03-751D-B681-3D82016D4E2E}"/>
              </a:ext>
            </a:extLst>
          </p:cNvPr>
          <p:cNvSpPr txBox="1"/>
          <p:nvPr/>
        </p:nvSpPr>
        <p:spPr>
          <a:xfrm>
            <a:off x="1009754" y="802225"/>
            <a:ext cx="3581400" cy="830997"/>
          </a:xfrm>
          <a:prstGeom prst="rect">
            <a:avLst/>
          </a:prstGeom>
          <a:noFill/>
        </p:spPr>
        <p:txBody>
          <a:bodyPr wrap="square" rtlCol="0">
            <a:spAutoFit/>
          </a:bodyPr>
          <a:lstStyle/>
          <a:p>
            <a:pPr indent="457200"/>
            <a:r>
              <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rPr>
              <a:t>Date: 27/07/2023</a:t>
            </a:r>
          </a:p>
          <a:p>
            <a:pPr indent="457200"/>
            <a:r>
              <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rPr>
              <a:t>Day: Thursday</a:t>
            </a:r>
          </a:p>
          <a:p>
            <a:pPr indent="457200"/>
            <a:r>
              <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rPr>
              <a:t>Task1:Brush up all basic python concepts</a:t>
            </a:r>
          </a:p>
          <a:p>
            <a:pPr indent="457200"/>
            <a:endPar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1149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2438C-F795-E8E1-14C8-3ADBA4667829}"/>
              </a:ext>
            </a:extLst>
          </p:cNvPr>
          <p:cNvSpPr>
            <a:spLocks noGrp="1"/>
          </p:cNvSpPr>
          <p:nvPr>
            <p:ph type="title"/>
          </p:nvPr>
        </p:nvSpPr>
        <p:spPr>
          <a:xfrm>
            <a:off x="655442" y="434057"/>
            <a:ext cx="9404723" cy="1040802"/>
          </a:xfrm>
        </p:spPr>
        <p:txBody>
          <a:bodyPr>
            <a:normAutofit fontScale="90000"/>
          </a:bodyPr>
          <a:lstStyle/>
          <a:p>
            <a:pPr indent="457200"/>
            <a:r>
              <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rPr>
              <a:t>Date: 28/07/2023</a:t>
            </a:r>
            <a:br>
              <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rPr>
            </a:br>
            <a:r>
              <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rPr>
              <a:t>	Day: Friday</a:t>
            </a:r>
            <a:br>
              <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rPr>
            </a:br>
            <a:r>
              <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rPr>
              <a:t>	Task2: Introduction to python libraries  </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3B6E8D0-FD9F-CDA3-97E5-FB5E17EDB853}"/>
              </a:ext>
            </a:extLst>
          </p:cNvPr>
          <p:cNvSpPr>
            <a:spLocks noGrp="1"/>
          </p:cNvSpPr>
          <p:nvPr>
            <p:ph idx="1"/>
          </p:nvPr>
        </p:nvSpPr>
        <p:spPr>
          <a:xfrm>
            <a:off x="1132840" y="1117600"/>
            <a:ext cx="8917013" cy="5130799"/>
          </a:xfrm>
        </p:spPr>
        <p:txBody>
          <a:bodyPr>
            <a:normAutofit/>
          </a:bodyPr>
          <a:lstStyle/>
          <a:p>
            <a:pPr marL="0" indent="0">
              <a:buNone/>
            </a:pPr>
            <a:r>
              <a:rPr lang="en-US" sz="1200" dirty="0">
                <a:effectLst/>
                <a:latin typeface="Times New Roman" panose="02020603050405020304" pitchFamily="18" charset="0"/>
                <a:ea typeface="Times New Roman" panose="02020603050405020304" pitchFamily="18" charset="0"/>
              </a:rPr>
              <a:t>Certainly! Pandas, NumPy, and Matplotlib are essential libraries in Python for data manipulation, numerical operations, and data visualization, respectively.</a:t>
            </a:r>
            <a:endParaRPr lang="en-IN" sz="1200" dirty="0">
              <a:effectLst/>
              <a:latin typeface="Times New Roman" panose="02020603050405020304" pitchFamily="18" charset="0"/>
              <a:ea typeface="Times New Roman" panose="02020603050405020304" pitchFamily="18" charset="0"/>
            </a:endParaRPr>
          </a:p>
          <a:p>
            <a:pPr indent="0" algn="just">
              <a:buNone/>
            </a:pPr>
            <a:r>
              <a:rPr lang="en-US" sz="1200" b="1" dirty="0">
                <a:effectLst/>
                <a:latin typeface="Times New Roman" panose="02020603050405020304" pitchFamily="18" charset="0"/>
                <a:ea typeface="Times New Roman" panose="02020603050405020304" pitchFamily="18" charset="0"/>
              </a:rPr>
              <a:t>1.Pandas:</a:t>
            </a:r>
            <a:endParaRPr lang="en-IN" sz="1200" b="1" dirty="0">
              <a:latin typeface="Times New Roman" panose="02020603050405020304" pitchFamily="18" charset="0"/>
              <a:ea typeface="Times New Roman" panose="02020603050405020304" pitchFamily="18" charset="0"/>
            </a:endParaRPr>
          </a:p>
          <a:p>
            <a:pPr indent="0" algn="just">
              <a:buNone/>
            </a:pPr>
            <a:r>
              <a:rPr lang="en-IN" sz="1200" b="1"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Pandas is a powerful library for data manipulation and analysis. It provides data structures like DataFrame and Series that make it easy     	to work with structured data and perform various data operations such as filtering, grouping, and merging.</a:t>
            </a:r>
            <a:endParaRPr lang="en-IN" sz="1200" dirty="0">
              <a:latin typeface="Times New Roman" panose="02020603050405020304" pitchFamily="18" charset="0"/>
              <a:ea typeface="Times New Roman" panose="02020603050405020304" pitchFamily="18" charset="0"/>
            </a:endParaRPr>
          </a:p>
          <a:p>
            <a:pPr indent="0" algn="just">
              <a:buNone/>
            </a:pPr>
            <a:r>
              <a:rPr lang="en-IN" sz="1200" b="1" dirty="0">
                <a:effectLst/>
                <a:latin typeface="Times New Roman" panose="02020603050405020304" pitchFamily="18" charset="0"/>
                <a:ea typeface="Times New Roman" panose="02020603050405020304" pitchFamily="18" charset="0"/>
              </a:rPr>
              <a:t>-&gt;</a:t>
            </a:r>
            <a:r>
              <a:rPr lang="en-US" sz="1200" b="1" dirty="0">
                <a:effectLst/>
                <a:latin typeface="Times New Roman" panose="02020603050405020304" pitchFamily="18" charset="0"/>
                <a:ea typeface="Times New Roman" panose="02020603050405020304" pitchFamily="18" charset="0"/>
              </a:rPr>
              <a:t>  </a:t>
            </a:r>
            <a:r>
              <a:rPr lang="en-IN" sz="1200" dirty="0">
                <a:effectLst/>
                <a:latin typeface="Times New Roman" panose="02020603050405020304" pitchFamily="18" charset="0"/>
                <a:ea typeface="Times New Roman" panose="02020603050405020304" pitchFamily="18" charset="0"/>
              </a:rPr>
              <a:t>Common operations in Pandas include:</a:t>
            </a:r>
          </a:p>
          <a:p>
            <a:pPr lvl="1" indent="-342900" algn="jus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Times New Roman" panose="02020603050405020304" pitchFamily="18" charset="0"/>
              </a:rPr>
              <a:t>Loading and saving data from/to various file formats (CSV, Excel, SQL, etc.).</a:t>
            </a:r>
          </a:p>
          <a:p>
            <a:pPr lvl="1" indent="-342900" algn="jus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Times New Roman" panose="02020603050405020304" pitchFamily="18" charset="0"/>
              </a:rPr>
              <a:t>Indexing, slicing, and subsetting data.</a:t>
            </a:r>
          </a:p>
          <a:p>
            <a:pPr lvl="1" indent="-342900" algn="jus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Times New Roman" panose="02020603050405020304" pitchFamily="18" charset="0"/>
              </a:rPr>
              <a:t>Filtering and sorting data.</a:t>
            </a:r>
          </a:p>
          <a:p>
            <a:pPr lvl="1" indent="-342900" algn="jus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Times New Roman" panose="02020603050405020304" pitchFamily="18" charset="0"/>
              </a:rPr>
              <a:t>Grouping and aggregation.</a:t>
            </a:r>
          </a:p>
          <a:p>
            <a:pPr lvl="1" indent="-342900" algn="just">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Times New Roman" panose="02020603050405020304" pitchFamily="18" charset="0"/>
              </a:rPr>
              <a:t>Handling missing values</a:t>
            </a:r>
            <a:r>
              <a:rPr lang="en-IN" sz="1200" b="1" dirty="0">
                <a:effectLst/>
                <a:latin typeface="Times New Roman" panose="02020603050405020304" pitchFamily="18" charset="0"/>
                <a:ea typeface="Times New Roman" panose="02020603050405020304" pitchFamily="18" charset="0"/>
              </a:rPr>
              <a:t>.</a:t>
            </a:r>
          </a:p>
          <a:p>
            <a:pPr marL="0" lvl="0" indent="0" algn="just">
              <a:buSzPts val="1000"/>
              <a:buNone/>
              <a:tabLst>
                <a:tab pos="914400" algn="l"/>
              </a:tabLst>
            </a:pPr>
            <a:r>
              <a:rPr lang="en-IN" sz="1200" b="1" dirty="0">
                <a:latin typeface="Times New Roman" panose="02020603050405020304" pitchFamily="18" charset="0"/>
                <a:ea typeface="Times New Roman" panose="02020603050405020304" pitchFamily="18" charset="0"/>
              </a:rPr>
              <a:t>ex:</a:t>
            </a:r>
          </a:p>
          <a:p>
            <a:pPr marL="0" indent="0" algn="just">
              <a:buSzPts val="1000"/>
              <a:buNone/>
              <a:tabLst>
                <a:tab pos="914400" algn="l"/>
              </a:tabLst>
            </a:pPr>
            <a:r>
              <a:rPr lang="en-IN" sz="1800" b="1" dirty="0">
                <a:effectLst/>
                <a:latin typeface="Times New Roman" panose="02020603050405020304" pitchFamily="18" charset="0"/>
                <a:ea typeface="Times New Roman" panose="02020603050405020304" pitchFamily="18" charset="0"/>
              </a:rPr>
              <a:t>	</a:t>
            </a:r>
            <a:endParaRPr lang="en-IN" sz="1200" b="1" dirty="0">
              <a:effectLst/>
              <a:latin typeface="Times New Roman" panose="02020603050405020304" pitchFamily="18" charset="0"/>
              <a:ea typeface="Times New Roman" panose="02020603050405020304" pitchFamily="18" charset="0"/>
            </a:endParaRPr>
          </a:p>
          <a:p>
            <a:pPr marL="0" indent="0" algn="just">
              <a:buSzPts val="1000"/>
              <a:buNone/>
              <a:tabLst>
                <a:tab pos="914400" algn="l"/>
              </a:tabLst>
            </a:pPr>
            <a:endParaRPr lang="en-IN" sz="1200" dirty="0">
              <a:effectLst/>
              <a:latin typeface="Times New Roman" panose="02020603050405020304" pitchFamily="18" charset="0"/>
              <a:ea typeface="Times New Roman" panose="02020603050405020304" pitchFamily="18" charset="0"/>
            </a:endParaRPr>
          </a:p>
          <a:p>
            <a:pPr marL="0" lvl="0" indent="0" algn="just">
              <a:buSzPts val="1000"/>
              <a:buNone/>
              <a:tabLst>
                <a:tab pos="914400" algn="l"/>
              </a:tabLst>
            </a:pPr>
            <a:endParaRPr lang="en-IN" sz="1200" dirty="0">
              <a:effectLst/>
              <a:latin typeface="Times New Roman" panose="02020603050405020304" pitchFamily="18" charset="0"/>
              <a:ea typeface="Times New Roman" panose="02020603050405020304" pitchFamily="18" charset="0"/>
            </a:endParaRPr>
          </a:p>
          <a:p>
            <a:pPr marL="0" indent="0">
              <a:buNone/>
            </a:pPr>
            <a:endParaRPr lang="en-IN" dirty="0"/>
          </a:p>
        </p:txBody>
      </p:sp>
      <p:pic>
        <p:nvPicPr>
          <p:cNvPr id="4" name="Content Placeholder 3">
            <a:extLst>
              <a:ext uri="{FF2B5EF4-FFF2-40B4-BE49-F238E27FC236}">
                <a16:creationId xmlns:a16="http://schemas.microsoft.com/office/drawing/2014/main" id="{B6D63205-3472-3ED3-18D7-AF5F84E4E667}"/>
              </a:ext>
            </a:extLst>
          </p:cNvPr>
          <p:cNvPicPr>
            <a:picLocks noChangeAspect="1"/>
          </p:cNvPicPr>
          <p:nvPr/>
        </p:nvPicPr>
        <p:blipFill>
          <a:blip r:embed="rId2"/>
          <a:stretch>
            <a:fillRect/>
          </a:stretch>
        </p:blipFill>
        <p:spPr>
          <a:xfrm>
            <a:off x="1623526" y="4359310"/>
            <a:ext cx="6242180" cy="2498690"/>
          </a:xfrm>
          <a:prstGeom prst="rect">
            <a:avLst/>
          </a:prstGeom>
        </p:spPr>
      </p:pic>
    </p:spTree>
    <p:extLst>
      <p:ext uri="{BB962C8B-B14F-4D97-AF65-F5344CB8AC3E}">
        <p14:creationId xmlns:p14="http://schemas.microsoft.com/office/powerpoint/2010/main" val="2225593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AB25B-6B6C-A563-565B-640064E23E29}"/>
              </a:ext>
            </a:extLst>
          </p:cNvPr>
          <p:cNvSpPr>
            <a:spLocks noGrp="1"/>
          </p:cNvSpPr>
          <p:nvPr>
            <p:ph type="title"/>
          </p:nvPr>
        </p:nvSpPr>
        <p:spPr>
          <a:xfrm>
            <a:off x="686665" y="618931"/>
            <a:ext cx="8596668" cy="1320800"/>
          </a:xfrm>
        </p:spPr>
        <p:txBody>
          <a:bodyPr>
            <a:noAutofit/>
          </a:bodyPr>
          <a:lstStyle/>
          <a:p>
            <a:pPr indent="457200"/>
            <a:r>
              <a:rPr lang="en-IN" sz="1200" b="1" dirty="0">
                <a:solidFill>
                  <a:schemeClr val="tx1">
                    <a:lumMod val="95000"/>
                  </a:schemeClr>
                </a:solidFill>
                <a:effectLst/>
                <a:latin typeface="Times New Roman" panose="02020603050405020304" pitchFamily="18" charset="0"/>
                <a:ea typeface="Times New Roman" panose="02020603050405020304" pitchFamily="18" charset="0"/>
              </a:rPr>
              <a:t>2.</a:t>
            </a:r>
            <a:r>
              <a:rPr lang="en-US" sz="1200" b="1" dirty="0">
                <a:solidFill>
                  <a:schemeClr val="tx1">
                    <a:lumMod val="95000"/>
                  </a:schemeClr>
                </a:solidFill>
                <a:effectLst/>
                <a:latin typeface="Times New Roman" panose="02020603050405020304" pitchFamily="18" charset="0"/>
                <a:ea typeface="Times New Roman" panose="02020603050405020304" pitchFamily="18" charset="0"/>
              </a:rPr>
              <a:t>NumPy (Numerical Python): </a:t>
            </a:r>
            <a:br>
              <a:rPr lang="en-US" sz="1200" b="1" dirty="0">
                <a:solidFill>
                  <a:schemeClr val="tx1">
                    <a:lumMod val="95000"/>
                  </a:schemeClr>
                </a:solidFill>
                <a:effectLst/>
                <a:latin typeface="Times New Roman" panose="02020603050405020304" pitchFamily="18" charset="0"/>
                <a:ea typeface="Times New Roman" panose="02020603050405020304" pitchFamily="18" charset="0"/>
              </a:rPr>
            </a:br>
            <a:br>
              <a:rPr lang="en-IN" sz="1200" dirty="0">
                <a:solidFill>
                  <a:schemeClr val="tx1">
                    <a:lumMod val="95000"/>
                  </a:schemeClr>
                </a:solidFill>
                <a:effectLst/>
                <a:latin typeface="Times New Roman" panose="02020603050405020304" pitchFamily="18" charset="0"/>
                <a:ea typeface="Times New Roman" panose="02020603050405020304" pitchFamily="18" charset="0"/>
              </a:rPr>
            </a:br>
            <a:r>
              <a:rPr lang="en-IN" sz="1200" dirty="0">
                <a:solidFill>
                  <a:schemeClr val="tx1">
                    <a:lumMod val="95000"/>
                  </a:schemeClr>
                </a:solidFill>
                <a:effectLst/>
                <a:latin typeface="Times New Roman" panose="02020603050405020304" pitchFamily="18" charset="0"/>
                <a:ea typeface="Times New Roman" panose="02020603050405020304" pitchFamily="18" charset="0"/>
              </a:rPr>
              <a:t>	</a:t>
            </a:r>
            <a:r>
              <a:rPr lang="en-US" sz="1200" dirty="0">
                <a:solidFill>
                  <a:schemeClr val="tx1">
                    <a:lumMod val="95000"/>
                  </a:schemeClr>
                </a:solidFill>
                <a:effectLst/>
                <a:latin typeface="Times New Roman" panose="02020603050405020304" pitchFamily="18" charset="0"/>
                <a:ea typeface="Times New Roman" panose="02020603050405020304" pitchFamily="18" charset="0"/>
              </a:rPr>
              <a:t>NumPy is a fundamental package for scientific computing in Python. It provides support for arrays, which are more efficient and 	convenient 	than Python's built-in lists for numerical operations. NumPy also offers a wide range of mathematical functions to 	operate on these arrays.</a:t>
            </a:r>
            <a:br>
              <a:rPr lang="en-US" sz="1200" dirty="0">
                <a:solidFill>
                  <a:schemeClr val="tx1">
                    <a:lumMod val="95000"/>
                  </a:schemeClr>
                </a:solidFill>
                <a:effectLst/>
                <a:latin typeface="Times New Roman" panose="02020603050405020304" pitchFamily="18" charset="0"/>
                <a:ea typeface="Times New Roman" panose="02020603050405020304" pitchFamily="18" charset="0"/>
              </a:rPr>
            </a:br>
            <a:br>
              <a:rPr lang="en-US" sz="1200" dirty="0">
                <a:solidFill>
                  <a:schemeClr val="tx1">
                    <a:lumMod val="95000"/>
                  </a:schemeClr>
                </a:solidFill>
                <a:effectLst/>
                <a:latin typeface="Times New Roman" panose="02020603050405020304" pitchFamily="18" charset="0"/>
                <a:ea typeface="Times New Roman" panose="02020603050405020304" pitchFamily="18" charset="0"/>
              </a:rPr>
            </a:br>
            <a:br>
              <a:rPr lang="en-US" sz="1200" dirty="0">
                <a:solidFill>
                  <a:schemeClr val="tx1">
                    <a:lumMod val="95000"/>
                  </a:schemeClr>
                </a:solidFill>
                <a:effectLst/>
                <a:latin typeface="Times New Roman" panose="02020603050405020304" pitchFamily="18" charset="0"/>
                <a:ea typeface="Times New Roman" panose="02020603050405020304" pitchFamily="18" charset="0"/>
              </a:rPr>
            </a:br>
            <a:br>
              <a:rPr lang="en-IN" sz="1200" dirty="0">
                <a:solidFill>
                  <a:schemeClr val="tx1">
                    <a:lumMod val="95000"/>
                  </a:schemeClr>
                </a:solidFill>
                <a:effectLst/>
                <a:latin typeface="Times New Roman" panose="02020603050405020304" pitchFamily="18" charset="0"/>
                <a:ea typeface="Times New Roman" panose="02020603050405020304" pitchFamily="18" charset="0"/>
              </a:rPr>
            </a:br>
            <a:endParaRPr lang="en-IN" sz="1200" dirty="0">
              <a:solidFill>
                <a:schemeClr val="tx1">
                  <a:lumMod val="95000"/>
                </a:schemeClr>
              </a:solidFill>
            </a:endParaRPr>
          </a:p>
        </p:txBody>
      </p:sp>
      <p:sp>
        <p:nvSpPr>
          <p:cNvPr id="3" name="Content Placeholder 2">
            <a:extLst>
              <a:ext uri="{FF2B5EF4-FFF2-40B4-BE49-F238E27FC236}">
                <a16:creationId xmlns:a16="http://schemas.microsoft.com/office/drawing/2014/main" id="{53DB605C-E92D-2BBB-6330-0C1D9F38031A}"/>
              </a:ext>
            </a:extLst>
          </p:cNvPr>
          <p:cNvSpPr>
            <a:spLocks noGrp="1"/>
          </p:cNvSpPr>
          <p:nvPr>
            <p:ph idx="1"/>
          </p:nvPr>
        </p:nvSpPr>
        <p:spPr>
          <a:xfrm>
            <a:off x="1184988" y="1623527"/>
            <a:ext cx="8864865" cy="4624872"/>
          </a:xfrm>
        </p:spPr>
        <p:txBody>
          <a:bodyPr/>
          <a:lstStyle/>
          <a:p>
            <a:pPr marL="0" indent="0">
              <a:buNone/>
            </a:pPr>
            <a:endParaRPr lang="en-US" sz="1200" dirty="0">
              <a:latin typeface="Times New Roman" panose="02020603050405020304" pitchFamily="18" charset="0"/>
              <a:cs typeface="Times New Roman" panose="02020603050405020304" pitchFamily="18" charset="0"/>
            </a:endParaRPr>
          </a:p>
          <a:p>
            <a:pPr marL="0" indent="0">
              <a:buNone/>
            </a:pP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rPr>
              <a:t>Ex:</a:t>
            </a:r>
          </a:p>
          <a:p>
            <a:pPr marL="0" indent="0">
              <a:buNone/>
            </a:pP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rPr>
              <a:t>	</a:t>
            </a:r>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DCD762C3-AA00-8A72-829D-AB7CFFE85719}"/>
              </a:ext>
            </a:extLst>
          </p:cNvPr>
          <p:cNvPicPr>
            <a:picLocks noChangeAspect="1"/>
          </p:cNvPicPr>
          <p:nvPr/>
        </p:nvPicPr>
        <p:blipFill>
          <a:blip r:embed="rId2"/>
          <a:stretch>
            <a:fillRect/>
          </a:stretch>
        </p:blipFill>
        <p:spPr>
          <a:xfrm>
            <a:off x="1436283" y="2878026"/>
            <a:ext cx="7847050" cy="2888291"/>
          </a:xfrm>
          <a:prstGeom prst="rect">
            <a:avLst/>
          </a:prstGeom>
        </p:spPr>
      </p:pic>
    </p:spTree>
    <p:extLst>
      <p:ext uri="{BB962C8B-B14F-4D97-AF65-F5344CB8AC3E}">
        <p14:creationId xmlns:p14="http://schemas.microsoft.com/office/powerpoint/2010/main" val="2269494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17256-D463-63AF-AE43-85D364AAA7ED}"/>
              </a:ext>
            </a:extLst>
          </p:cNvPr>
          <p:cNvSpPr>
            <a:spLocks noGrp="1"/>
          </p:cNvSpPr>
          <p:nvPr>
            <p:ph type="title"/>
          </p:nvPr>
        </p:nvSpPr>
        <p:spPr>
          <a:xfrm>
            <a:off x="1103312" y="746760"/>
            <a:ext cx="8947522" cy="1106488"/>
          </a:xfrm>
        </p:spPr>
        <p:txBody>
          <a:bodyPr>
            <a:normAutofit fontScale="90000"/>
          </a:bodyPr>
          <a:lstStyle/>
          <a:p>
            <a:r>
              <a:rPr lang="en-IN" sz="1300" b="1" dirty="0">
                <a:solidFill>
                  <a:schemeClr val="tx1">
                    <a:lumMod val="95000"/>
                  </a:schemeClr>
                </a:solidFill>
                <a:effectLst/>
                <a:latin typeface="Times New Roman" panose="02020603050405020304" pitchFamily="18" charset="0"/>
                <a:ea typeface="Times New Roman" panose="02020603050405020304" pitchFamily="18" charset="0"/>
              </a:rPr>
              <a:t>3.</a:t>
            </a:r>
            <a:r>
              <a:rPr lang="en-US" sz="1300" b="1" dirty="0">
                <a:solidFill>
                  <a:schemeClr val="tx1">
                    <a:lumMod val="95000"/>
                  </a:schemeClr>
                </a:solidFill>
                <a:effectLst/>
                <a:latin typeface="Times New Roman" panose="02020603050405020304" pitchFamily="18" charset="0"/>
                <a:ea typeface="Times New Roman" panose="02020603050405020304" pitchFamily="18" charset="0"/>
              </a:rPr>
              <a:t>Matplotlib: </a:t>
            </a:r>
            <a:br>
              <a:rPr lang="en-IN" sz="1300" dirty="0">
                <a:solidFill>
                  <a:schemeClr val="tx1">
                    <a:lumMod val="95000"/>
                  </a:schemeClr>
                </a:solidFill>
                <a:effectLst/>
                <a:latin typeface="Times New Roman" panose="02020603050405020304" pitchFamily="18" charset="0"/>
                <a:ea typeface="Times New Roman" panose="02020603050405020304" pitchFamily="18" charset="0"/>
              </a:rPr>
            </a:br>
            <a:r>
              <a:rPr lang="en-US" sz="1300" dirty="0">
                <a:solidFill>
                  <a:schemeClr val="tx1">
                    <a:lumMod val="95000"/>
                  </a:schemeClr>
                </a:solidFill>
                <a:effectLst/>
                <a:latin typeface="Times New Roman" panose="02020603050405020304" pitchFamily="18" charset="0"/>
                <a:ea typeface="Times New Roman" panose="02020603050405020304" pitchFamily="18" charset="0"/>
              </a:rPr>
              <a:t>Matplotlib is a widely used library for creating visualizations in Python. It provides a variety of plotting functions to create line plots, bar charts, scatter plots, histograms, and more.</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947543D-3A45-81DC-A932-4E40BD5B954B}"/>
              </a:ext>
            </a:extLst>
          </p:cNvPr>
          <p:cNvSpPr>
            <a:spLocks noGrp="1"/>
          </p:cNvSpPr>
          <p:nvPr>
            <p:ph idx="1"/>
          </p:nvPr>
        </p:nvSpPr>
        <p:spPr>
          <a:xfrm>
            <a:off x="1158240" y="1424940"/>
            <a:ext cx="8891613" cy="4823459"/>
          </a:xfrm>
        </p:spPr>
        <p:txBody>
          <a:bodyPr/>
          <a:lstStyle/>
          <a:p>
            <a:pPr marL="0" indent="0">
              <a:buNone/>
            </a:pPr>
            <a:r>
              <a:rPr lang="en-US" sz="1200" dirty="0">
                <a:latin typeface="Times New Roman" panose="02020603050405020304" pitchFamily="18" charset="0"/>
                <a:cs typeface="Times New Roman" panose="02020603050405020304" pitchFamily="18" charset="0"/>
              </a:rPr>
              <a:t>Ex:</a:t>
            </a:r>
          </a:p>
          <a:p>
            <a:pPr marL="0" indent="0">
              <a:buNone/>
            </a:pPr>
            <a:r>
              <a:rPr lang="en-US" dirty="0"/>
              <a:t>	</a:t>
            </a:r>
            <a:endParaRPr lang="en-IN" dirty="0"/>
          </a:p>
        </p:txBody>
      </p:sp>
      <p:pic>
        <p:nvPicPr>
          <p:cNvPr id="4" name="Picture 3">
            <a:extLst>
              <a:ext uri="{FF2B5EF4-FFF2-40B4-BE49-F238E27FC236}">
                <a16:creationId xmlns:a16="http://schemas.microsoft.com/office/drawing/2014/main" id="{4A9B04F5-E5F7-69AD-1F0D-92FA3365DE66}"/>
              </a:ext>
            </a:extLst>
          </p:cNvPr>
          <p:cNvPicPr>
            <a:picLocks noChangeAspect="1"/>
          </p:cNvPicPr>
          <p:nvPr/>
        </p:nvPicPr>
        <p:blipFill>
          <a:blip r:embed="rId2"/>
          <a:stretch>
            <a:fillRect/>
          </a:stretch>
        </p:blipFill>
        <p:spPr>
          <a:xfrm>
            <a:off x="1359937" y="2125980"/>
            <a:ext cx="7896032" cy="3985260"/>
          </a:xfrm>
          <a:prstGeom prst="rect">
            <a:avLst/>
          </a:prstGeom>
        </p:spPr>
      </p:pic>
    </p:spTree>
    <p:extLst>
      <p:ext uri="{BB962C8B-B14F-4D97-AF65-F5344CB8AC3E}">
        <p14:creationId xmlns:p14="http://schemas.microsoft.com/office/powerpoint/2010/main" val="397844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44C3F-8C87-F9C3-8598-91B379859417}"/>
              </a:ext>
            </a:extLst>
          </p:cNvPr>
          <p:cNvSpPr>
            <a:spLocks noGrp="1"/>
          </p:cNvSpPr>
          <p:nvPr>
            <p:ph type="title"/>
          </p:nvPr>
        </p:nvSpPr>
        <p:spPr>
          <a:xfrm>
            <a:off x="662473" y="452718"/>
            <a:ext cx="9388361" cy="1400530"/>
          </a:xfrm>
        </p:spPr>
        <p:txBody>
          <a:bodyPr/>
          <a:lstStyle/>
          <a:p>
            <a:pPr indent="457200"/>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Date: 31/07/2023</a:t>
            </a:r>
            <a:b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	Day: Monday</a:t>
            </a:r>
            <a:b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	Task 3.1: To Create a dataset with 10 rows and 4 columns, where one of the columns must be a salary column.</a:t>
            </a:r>
            <a:b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endParaRPr lang="en-IN" sz="1200" dirty="0">
              <a:solidFill>
                <a:schemeClr val="bg2">
                  <a:lumMod val="20000"/>
                  <a:lumOff val="80000"/>
                </a:schemeClr>
              </a:solidFill>
            </a:endParaRPr>
          </a:p>
        </p:txBody>
      </p:sp>
      <p:pic>
        <p:nvPicPr>
          <p:cNvPr id="4" name="Content Placeholder 3">
            <a:extLst>
              <a:ext uri="{FF2B5EF4-FFF2-40B4-BE49-F238E27FC236}">
                <a16:creationId xmlns:a16="http://schemas.microsoft.com/office/drawing/2014/main" id="{E20D6D42-E719-F5D2-C950-E6C953DB89C7}"/>
              </a:ext>
            </a:extLst>
          </p:cNvPr>
          <p:cNvPicPr>
            <a:picLocks noGrp="1" noChangeAspect="1"/>
          </p:cNvPicPr>
          <p:nvPr>
            <p:ph idx="1"/>
          </p:nvPr>
        </p:nvPicPr>
        <p:blipFill>
          <a:blip r:embed="rId2"/>
          <a:srcRect l="21564" t="13667" r="27208" b="44032"/>
          <a:stretch>
            <a:fillRect/>
          </a:stretch>
        </p:blipFill>
        <p:spPr bwMode="auto">
          <a:xfrm>
            <a:off x="1215280" y="1450646"/>
            <a:ext cx="8078010" cy="4371655"/>
          </a:xfrm>
          <a:prstGeom prst="rect">
            <a:avLst/>
          </a:prstGeom>
          <a:noFill/>
          <a:ln w="9525">
            <a:noFill/>
            <a:miter lim="800000"/>
            <a:headEnd/>
            <a:tailEnd/>
          </a:ln>
        </p:spPr>
      </p:pic>
    </p:spTree>
    <p:extLst>
      <p:ext uri="{BB962C8B-B14F-4D97-AF65-F5344CB8AC3E}">
        <p14:creationId xmlns:p14="http://schemas.microsoft.com/office/powerpoint/2010/main" val="3903097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C763F-051B-F2D8-BAA8-1C85D5EE7835}"/>
              </a:ext>
            </a:extLst>
          </p:cNvPr>
          <p:cNvSpPr>
            <a:spLocks noGrp="1"/>
          </p:cNvSpPr>
          <p:nvPr>
            <p:ph type="title"/>
          </p:nvPr>
        </p:nvSpPr>
        <p:spPr>
          <a:xfrm>
            <a:off x="739417" y="943624"/>
            <a:ext cx="9404723" cy="499782"/>
          </a:xfrm>
        </p:spPr>
        <p:txBody>
          <a:bodyPr>
            <a:normAutofit fontScale="90000"/>
          </a:bodyPr>
          <a:lstStyle/>
          <a:p>
            <a:pPr indent="457200"/>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Task 3.2:</a:t>
            </a:r>
            <a:r>
              <a:rPr lang="en-US" sz="1200" b="1"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Calculate the total revenue generated</a:t>
            </a:r>
            <a:br>
              <a:rPr lang="en-IN"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4BF862AD-F7CF-7647-AA48-E94C25CC7793}"/>
              </a:ext>
            </a:extLst>
          </p:cNvPr>
          <p:cNvPicPr>
            <a:picLocks noGrp="1" noChangeAspect="1"/>
          </p:cNvPicPr>
          <p:nvPr>
            <p:ph idx="1"/>
          </p:nvPr>
        </p:nvPicPr>
        <p:blipFill>
          <a:blip r:embed="rId2" cstate="print"/>
          <a:srcRect l="9317" t="18511" r="24447" b="55324"/>
          <a:stretch>
            <a:fillRect/>
          </a:stretch>
        </p:blipFill>
        <p:spPr bwMode="auto">
          <a:xfrm>
            <a:off x="1232525" y="1716082"/>
            <a:ext cx="5213995" cy="914642"/>
          </a:xfrm>
          <a:prstGeom prst="rect">
            <a:avLst/>
          </a:prstGeom>
          <a:noFill/>
          <a:ln w="9525">
            <a:noFill/>
            <a:miter lim="800000"/>
            <a:headEnd/>
            <a:tailEnd/>
          </a:ln>
        </p:spPr>
      </p:pic>
      <p:sp>
        <p:nvSpPr>
          <p:cNvPr id="6" name="TextBox 5">
            <a:extLst>
              <a:ext uri="{FF2B5EF4-FFF2-40B4-BE49-F238E27FC236}">
                <a16:creationId xmlns:a16="http://schemas.microsoft.com/office/drawing/2014/main" id="{48A12CEF-BB1C-007D-DFC2-0FB4CCBAA77E}"/>
              </a:ext>
            </a:extLst>
          </p:cNvPr>
          <p:cNvSpPr txBox="1"/>
          <p:nvPr/>
        </p:nvSpPr>
        <p:spPr>
          <a:xfrm>
            <a:off x="1167210" y="3070575"/>
            <a:ext cx="7911475" cy="276999"/>
          </a:xfrm>
          <a:prstGeom prst="rect">
            <a:avLst/>
          </a:prstGeom>
          <a:noFill/>
        </p:spPr>
        <p:txBody>
          <a:bodyPr wrap="square">
            <a:spAutoFit/>
          </a:bodyPr>
          <a:lstStyle/>
          <a:p>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Task 3.3:</a:t>
            </a:r>
            <a:r>
              <a:rPr lang="en-US" sz="1200" b="1"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Find the average salary for every employee</a:t>
            </a:r>
            <a:endPar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4D973F22-A437-C73E-0E69-2FF0DBBBF0A0}"/>
              </a:ext>
            </a:extLst>
          </p:cNvPr>
          <p:cNvPicPr>
            <a:picLocks noChangeAspect="1"/>
          </p:cNvPicPr>
          <p:nvPr/>
        </p:nvPicPr>
        <p:blipFill>
          <a:blip r:embed="rId3" cstate="print"/>
          <a:srcRect l="8746" t="32394" r="16975" b="19718"/>
          <a:stretch>
            <a:fillRect/>
          </a:stretch>
        </p:blipFill>
        <p:spPr bwMode="auto">
          <a:xfrm>
            <a:off x="1232525" y="3787425"/>
            <a:ext cx="5135879" cy="1877060"/>
          </a:xfrm>
          <a:prstGeom prst="rect">
            <a:avLst/>
          </a:prstGeom>
          <a:noFill/>
          <a:ln w="9525">
            <a:noFill/>
            <a:miter lim="800000"/>
            <a:headEnd/>
            <a:tailEnd/>
          </a:ln>
        </p:spPr>
      </p:pic>
    </p:spTree>
    <p:extLst>
      <p:ext uri="{BB962C8B-B14F-4D97-AF65-F5344CB8AC3E}">
        <p14:creationId xmlns:p14="http://schemas.microsoft.com/office/powerpoint/2010/main" val="3515131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570F1-10B0-4EE6-C8FE-78A87F471F9B}"/>
              </a:ext>
            </a:extLst>
          </p:cNvPr>
          <p:cNvSpPr>
            <a:spLocks noGrp="1"/>
          </p:cNvSpPr>
          <p:nvPr>
            <p:ph type="title"/>
          </p:nvPr>
        </p:nvSpPr>
        <p:spPr>
          <a:xfrm>
            <a:off x="541177" y="681135"/>
            <a:ext cx="9509658" cy="639614"/>
          </a:xfrm>
        </p:spPr>
        <p:txBody>
          <a:bodyPr>
            <a:normAutofit fontScale="90000"/>
          </a:bodyPr>
          <a:lstStyle/>
          <a:p>
            <a:pPr indent="457200"/>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Date: 01/08/2023</a:t>
            </a:r>
            <a:b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	Day: Tuesday</a:t>
            </a:r>
            <a:b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Task 4:</a:t>
            </a:r>
            <a:r>
              <a:rPr lang="en-US" sz="1200" b="1"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Create data using random library</a:t>
            </a:r>
            <a:br>
              <a:rPr lang="en-IN" sz="18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2B51B711-A5C3-2A7E-099D-33E17925F532}"/>
              </a:ext>
            </a:extLst>
          </p:cNvPr>
          <p:cNvPicPr>
            <a:picLocks noGrp="1" noChangeAspect="1"/>
          </p:cNvPicPr>
          <p:nvPr>
            <p:ph idx="1"/>
          </p:nvPr>
        </p:nvPicPr>
        <p:blipFill>
          <a:blip r:embed="rId2" cstate="print"/>
          <a:srcRect l="18262" t="25956" r="7012" b="12670"/>
          <a:stretch>
            <a:fillRect/>
          </a:stretch>
        </p:blipFill>
        <p:spPr bwMode="auto">
          <a:xfrm>
            <a:off x="1124022" y="1756488"/>
            <a:ext cx="8178598" cy="4030980"/>
          </a:xfrm>
          <a:prstGeom prst="rect">
            <a:avLst/>
          </a:prstGeom>
          <a:noFill/>
          <a:ln w="9525">
            <a:noFill/>
            <a:miter lim="800000"/>
            <a:headEnd/>
            <a:tailEnd/>
          </a:ln>
        </p:spPr>
      </p:pic>
    </p:spTree>
    <p:extLst>
      <p:ext uri="{BB962C8B-B14F-4D97-AF65-F5344CB8AC3E}">
        <p14:creationId xmlns:p14="http://schemas.microsoft.com/office/powerpoint/2010/main" val="143876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4FA13-76C1-321F-BDAB-9459CE0BF202}"/>
              </a:ext>
            </a:extLst>
          </p:cNvPr>
          <p:cNvSpPr>
            <a:spLocks noGrp="1"/>
          </p:cNvSpPr>
          <p:nvPr>
            <p:ph type="title"/>
          </p:nvPr>
        </p:nvSpPr>
        <p:spPr>
          <a:xfrm>
            <a:off x="952500" y="452718"/>
            <a:ext cx="9098334" cy="774102"/>
          </a:xfrm>
        </p:spPr>
        <p:txBody>
          <a:bodyPr>
            <a:normAutofit fontScale="90000"/>
          </a:bodyPr>
          <a:lstStyle/>
          <a:p>
            <a:pPr indent="457200"/>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Date: 02/08/2023</a:t>
            </a:r>
            <a:b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	Day: Wednesday</a:t>
            </a:r>
            <a:b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Task 4.1:</a:t>
            </a:r>
            <a:r>
              <a:rPr lang="en-US" sz="1200" b="1"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generating random number using numpy</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BBEAEAC0-D0A0-2DE0-BD32-386DB3C6EB57}"/>
              </a:ext>
            </a:extLst>
          </p:cNvPr>
          <p:cNvPicPr>
            <a:picLocks noGrp="1" noChangeAspect="1"/>
          </p:cNvPicPr>
          <p:nvPr>
            <p:ph idx="1"/>
          </p:nvPr>
        </p:nvPicPr>
        <p:blipFill>
          <a:blip r:embed="rId2"/>
          <a:stretch>
            <a:fillRect/>
          </a:stretch>
        </p:blipFill>
        <p:spPr>
          <a:xfrm>
            <a:off x="1534656" y="1105479"/>
            <a:ext cx="6866215" cy="1295512"/>
          </a:xfrm>
          <a:prstGeom prst="rect">
            <a:avLst/>
          </a:prstGeom>
        </p:spPr>
      </p:pic>
      <p:sp>
        <p:nvSpPr>
          <p:cNvPr id="6" name="TextBox 5">
            <a:extLst>
              <a:ext uri="{FF2B5EF4-FFF2-40B4-BE49-F238E27FC236}">
                <a16:creationId xmlns:a16="http://schemas.microsoft.com/office/drawing/2014/main" id="{B9B95768-CAFE-E875-FBD0-CAAFEC4C9DBC}"/>
              </a:ext>
            </a:extLst>
          </p:cNvPr>
          <p:cNvSpPr txBox="1"/>
          <p:nvPr/>
        </p:nvSpPr>
        <p:spPr>
          <a:xfrm>
            <a:off x="1043940" y="2315088"/>
            <a:ext cx="8039100" cy="738664"/>
          </a:xfrm>
          <a:prstGeom prst="rect">
            <a:avLst/>
          </a:prstGeom>
          <a:noFill/>
        </p:spPr>
        <p:txBody>
          <a:bodyPr wrap="square">
            <a:spAutoFit/>
          </a:bodyPr>
          <a:lstStyle/>
          <a:p>
            <a:pPr indent="457200"/>
            <a:endParaRPr lang="en-IN" b="1" dirty="0">
              <a:solidFill>
                <a:schemeClr val="bg1"/>
              </a:solidFill>
              <a:latin typeface="Times New Roman" panose="02020603050405020304" pitchFamily="18" charset="0"/>
              <a:ea typeface="Times New Roman" panose="02020603050405020304" pitchFamily="18" charset="0"/>
            </a:endParaRPr>
          </a:p>
          <a:p>
            <a:pPr indent="457200"/>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Task 4.2:</a:t>
            </a:r>
            <a:r>
              <a:rPr lang="en-US" sz="1200" b="1"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generate array and slicing numpy array</a:t>
            </a:r>
          </a:p>
          <a:p>
            <a:pPr indent="457200"/>
            <a:endParaRPr lang="en-IN" sz="12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16CB9130-7C42-7D6A-F757-593004137863}"/>
              </a:ext>
            </a:extLst>
          </p:cNvPr>
          <p:cNvPicPr>
            <a:picLocks noChangeAspect="1"/>
          </p:cNvPicPr>
          <p:nvPr/>
        </p:nvPicPr>
        <p:blipFill>
          <a:blip r:embed="rId3"/>
          <a:stretch>
            <a:fillRect/>
          </a:stretch>
        </p:blipFill>
        <p:spPr>
          <a:xfrm>
            <a:off x="1590287" y="2852794"/>
            <a:ext cx="6754951" cy="4005206"/>
          </a:xfrm>
          <a:prstGeom prst="rect">
            <a:avLst/>
          </a:prstGeom>
        </p:spPr>
      </p:pic>
    </p:spTree>
    <p:extLst>
      <p:ext uri="{BB962C8B-B14F-4D97-AF65-F5344CB8AC3E}">
        <p14:creationId xmlns:p14="http://schemas.microsoft.com/office/powerpoint/2010/main" val="2052511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4021E-951D-35D8-A63C-3D26B6F55C7D}"/>
              </a:ext>
            </a:extLst>
          </p:cNvPr>
          <p:cNvSpPr>
            <a:spLocks noGrp="1"/>
          </p:cNvSpPr>
          <p:nvPr>
            <p:ph type="title"/>
          </p:nvPr>
        </p:nvSpPr>
        <p:spPr>
          <a:xfrm>
            <a:off x="1362268" y="1408922"/>
            <a:ext cx="8688565" cy="793102"/>
          </a:xfrm>
        </p:spPr>
        <p:txBody>
          <a:bodyPr>
            <a:noAutofit/>
          </a:bodyPr>
          <a:lstStyle/>
          <a:p>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Task 4.2:</a:t>
            </a:r>
            <a:r>
              <a:rPr lang="en-US" sz="1200" b="1"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generate array and slicing numpy array</a:t>
            </a:r>
            <a:b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endParaRPr lang="en-IN" sz="1200" dirty="0">
              <a:solidFill>
                <a:schemeClr val="bg2">
                  <a:lumMod val="20000"/>
                  <a:lumOff val="80000"/>
                </a:schemeClr>
              </a:solidFill>
            </a:endParaRPr>
          </a:p>
        </p:txBody>
      </p:sp>
      <p:pic>
        <p:nvPicPr>
          <p:cNvPr id="4" name="Content Placeholder 3">
            <a:extLst>
              <a:ext uri="{FF2B5EF4-FFF2-40B4-BE49-F238E27FC236}">
                <a16:creationId xmlns:a16="http://schemas.microsoft.com/office/drawing/2014/main" id="{F4448385-BB5C-2563-3243-85423F14D1EE}"/>
              </a:ext>
            </a:extLst>
          </p:cNvPr>
          <p:cNvPicPr>
            <a:picLocks noGrp="1" noChangeAspect="1"/>
          </p:cNvPicPr>
          <p:nvPr>
            <p:ph idx="1"/>
          </p:nvPr>
        </p:nvPicPr>
        <p:blipFill>
          <a:blip r:embed="rId2"/>
          <a:stretch>
            <a:fillRect/>
          </a:stretch>
        </p:blipFill>
        <p:spPr>
          <a:xfrm>
            <a:off x="1455109" y="2314148"/>
            <a:ext cx="6823448" cy="3403709"/>
          </a:xfrm>
          <a:prstGeom prst="rect">
            <a:avLst/>
          </a:prstGeom>
        </p:spPr>
      </p:pic>
    </p:spTree>
    <p:extLst>
      <p:ext uri="{BB962C8B-B14F-4D97-AF65-F5344CB8AC3E}">
        <p14:creationId xmlns:p14="http://schemas.microsoft.com/office/powerpoint/2010/main" val="132360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9AA3-50CD-6A55-1BCF-6521DAD1CF2A}"/>
              </a:ext>
            </a:extLst>
          </p:cNvPr>
          <p:cNvSpPr>
            <a:spLocks noGrp="1"/>
          </p:cNvSpPr>
          <p:nvPr>
            <p:ph type="title"/>
          </p:nvPr>
        </p:nvSpPr>
        <p:spPr>
          <a:xfrm>
            <a:off x="655320" y="452718"/>
            <a:ext cx="9395514" cy="690282"/>
          </a:xfrm>
        </p:spPr>
        <p:txBody>
          <a:bodyPr>
            <a:normAutofit fontScale="90000"/>
          </a:bodyPr>
          <a:lstStyle/>
          <a:p>
            <a:pPr indent="457200">
              <a:lnSpc>
                <a:spcPct val="107000"/>
              </a:lnSpc>
              <a:spcAft>
                <a:spcPts val="800"/>
              </a:spcAft>
            </a:pPr>
            <a:r>
              <a:rPr lang="en-US" sz="1200" dirty="0">
                <a:solidFill>
                  <a:schemeClr val="bg1"/>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Task 4.2:</a:t>
            </a:r>
            <a:r>
              <a:rPr lang="en-US" sz="1200" b="1"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concatenating two numpy array</a:t>
            </a:r>
            <a:b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b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br>
            <a:r>
              <a:rPr lang="en-IN" sz="1200"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20000"/>
                    <a:lumOff val="80000"/>
                  </a:schemeClr>
                </a:solidFill>
                <a:effectLst/>
                <a:latin typeface="Times New Roman" panose="02020603050405020304" pitchFamily="18" charset="0"/>
                <a:ea typeface="Times New Roman" panose="02020603050405020304" pitchFamily="18" charset="0"/>
              </a:rPr>
              <a:t>1.Using np.concatenate() function</a:t>
            </a:r>
            <a:br>
              <a:rPr lang="en-US" sz="1200" dirty="0">
                <a:effectLst/>
                <a:latin typeface="Times New Roman" panose="020206030504050203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1AC4B427-23E2-290C-C77F-7C72C8A8D2C9}"/>
              </a:ext>
            </a:extLst>
          </p:cNvPr>
          <p:cNvPicPr>
            <a:picLocks noGrp="1" noChangeAspect="1"/>
          </p:cNvPicPr>
          <p:nvPr>
            <p:ph idx="1"/>
          </p:nvPr>
        </p:nvPicPr>
        <p:blipFill>
          <a:blip r:embed="rId2"/>
          <a:stretch>
            <a:fillRect/>
          </a:stretch>
        </p:blipFill>
        <p:spPr>
          <a:xfrm>
            <a:off x="1635019" y="1265821"/>
            <a:ext cx="5967097" cy="1966036"/>
          </a:xfrm>
          <a:prstGeom prst="rect">
            <a:avLst/>
          </a:prstGeom>
        </p:spPr>
      </p:pic>
      <p:sp>
        <p:nvSpPr>
          <p:cNvPr id="6" name="TextBox 5">
            <a:extLst>
              <a:ext uri="{FF2B5EF4-FFF2-40B4-BE49-F238E27FC236}">
                <a16:creationId xmlns:a16="http://schemas.microsoft.com/office/drawing/2014/main" id="{16EBD6E9-7929-E615-9C50-5C0FFC0EEE39}"/>
              </a:ext>
            </a:extLst>
          </p:cNvPr>
          <p:cNvSpPr txBox="1"/>
          <p:nvPr/>
        </p:nvSpPr>
        <p:spPr>
          <a:xfrm>
            <a:off x="708660" y="3354679"/>
            <a:ext cx="8016240" cy="276999"/>
          </a:xfrm>
          <a:prstGeom prst="rect">
            <a:avLst/>
          </a:prstGeom>
          <a:noFill/>
        </p:spPr>
        <p:txBody>
          <a:bodyPr wrap="square">
            <a:spAutoFit/>
          </a:bodyPr>
          <a:lstStyle/>
          <a:p>
            <a:pPr marL="457200"/>
            <a:r>
              <a:rPr lang="en-US" sz="1200" dirty="0">
                <a:effectLst/>
                <a:latin typeface="Times New Roman" panose="02020603050405020304" pitchFamily="18" charset="0"/>
                <a:ea typeface="Times New Roman" panose="02020603050405020304" pitchFamily="18" charset="0"/>
              </a:rPr>
              <a:t>	2.Using np.vstack() and np.hstack() methods</a:t>
            </a:r>
            <a:endParaRPr lang="en-IN" sz="12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15F4A9C3-BDA6-03A5-BB93-3ADE355389AD}"/>
              </a:ext>
            </a:extLst>
          </p:cNvPr>
          <p:cNvPicPr>
            <a:picLocks noChangeAspect="1"/>
          </p:cNvPicPr>
          <p:nvPr/>
        </p:nvPicPr>
        <p:blipFill>
          <a:blip r:embed="rId3"/>
          <a:stretch>
            <a:fillRect/>
          </a:stretch>
        </p:blipFill>
        <p:spPr>
          <a:xfrm>
            <a:off x="1665498" y="3921162"/>
            <a:ext cx="5906138" cy="2484120"/>
          </a:xfrm>
          <a:prstGeom prst="rect">
            <a:avLst/>
          </a:prstGeom>
        </p:spPr>
      </p:pic>
    </p:spTree>
    <p:extLst>
      <p:ext uri="{BB962C8B-B14F-4D97-AF65-F5344CB8AC3E}">
        <p14:creationId xmlns:p14="http://schemas.microsoft.com/office/powerpoint/2010/main" val="1932294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E7E52-E386-C0FC-7C3B-73C63221A454}"/>
              </a:ext>
            </a:extLst>
          </p:cNvPr>
          <p:cNvSpPr>
            <a:spLocks noGrp="1"/>
          </p:cNvSpPr>
          <p:nvPr>
            <p:ph type="title"/>
          </p:nvPr>
        </p:nvSpPr>
        <p:spPr>
          <a:xfrm>
            <a:off x="1492898" y="1316019"/>
            <a:ext cx="8940491" cy="625151"/>
          </a:xfrm>
        </p:spPr>
        <p:txBody>
          <a:bodyPr/>
          <a:lstStyle/>
          <a:p>
            <a:r>
              <a:rPr lang="en-US" sz="1200" kern="0" dirty="0">
                <a:solidFill>
                  <a:schemeClr val="bg2">
                    <a:lumMod val="20000"/>
                    <a:lumOff val="80000"/>
                  </a:schemeClr>
                </a:solidFill>
                <a:effectLst/>
                <a:latin typeface="Times New Roman" panose="02020603050405020304" pitchFamily="18" charset="0"/>
                <a:ea typeface="Times New Roman" panose="02020603050405020304" pitchFamily="18" charset="0"/>
              </a:rPr>
              <a:t>Task 4.3:</a:t>
            </a:r>
            <a:r>
              <a:rPr lang="en-US" sz="1200" b="1" kern="0" dirty="0">
                <a:solidFill>
                  <a:schemeClr val="bg2">
                    <a:lumMod val="20000"/>
                    <a:lumOff val="80000"/>
                  </a:schemeClr>
                </a:solidFill>
                <a:effectLst/>
                <a:latin typeface="Times New Roman" panose="02020603050405020304" pitchFamily="18" charset="0"/>
                <a:ea typeface="Times New Roman" panose="02020603050405020304" pitchFamily="18" charset="0"/>
              </a:rPr>
              <a:t> </a:t>
            </a:r>
            <a:r>
              <a:rPr lang="en-US" sz="1200" kern="0" dirty="0">
                <a:solidFill>
                  <a:schemeClr val="bg2">
                    <a:lumMod val="20000"/>
                    <a:lumOff val="80000"/>
                  </a:schemeClr>
                </a:solidFill>
                <a:effectLst/>
                <a:latin typeface="Times New Roman" panose="02020603050405020304" pitchFamily="18" charset="0"/>
                <a:ea typeface="Times New Roman" panose="02020603050405020304" pitchFamily="18" charset="0"/>
              </a:rPr>
              <a:t>sorting a numpy array</a:t>
            </a:r>
            <a:endParaRPr lang="en-IN" sz="1200" dirty="0">
              <a:solidFill>
                <a:schemeClr val="bg2">
                  <a:lumMod val="20000"/>
                  <a:lumOff val="80000"/>
                </a:schemeClr>
              </a:solidFill>
            </a:endParaRPr>
          </a:p>
        </p:txBody>
      </p:sp>
      <p:pic>
        <p:nvPicPr>
          <p:cNvPr id="4" name="Content Placeholder 3">
            <a:extLst>
              <a:ext uri="{FF2B5EF4-FFF2-40B4-BE49-F238E27FC236}">
                <a16:creationId xmlns:a16="http://schemas.microsoft.com/office/drawing/2014/main" id="{F16B7FC4-F10F-8D57-EAE9-0C9DF873E43A}"/>
              </a:ext>
            </a:extLst>
          </p:cNvPr>
          <p:cNvPicPr>
            <a:picLocks noGrp="1" noChangeAspect="1"/>
          </p:cNvPicPr>
          <p:nvPr>
            <p:ph idx="1"/>
          </p:nvPr>
        </p:nvPicPr>
        <p:blipFill>
          <a:blip r:embed="rId2"/>
          <a:stretch>
            <a:fillRect/>
          </a:stretch>
        </p:blipFill>
        <p:spPr>
          <a:xfrm>
            <a:off x="1670180" y="1941170"/>
            <a:ext cx="6960637" cy="3393158"/>
          </a:xfrm>
          <a:prstGeom prst="rect">
            <a:avLst/>
          </a:prstGeom>
        </p:spPr>
      </p:pic>
    </p:spTree>
    <p:extLst>
      <p:ext uri="{BB962C8B-B14F-4D97-AF65-F5344CB8AC3E}">
        <p14:creationId xmlns:p14="http://schemas.microsoft.com/office/powerpoint/2010/main" val="4110265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E0364-C3CA-01B5-606B-394E69150629}"/>
              </a:ext>
            </a:extLst>
          </p:cNvPr>
          <p:cNvSpPr>
            <a:spLocks noGrp="1"/>
          </p:cNvSpPr>
          <p:nvPr>
            <p:ph type="title"/>
          </p:nvPr>
        </p:nvSpPr>
        <p:spPr/>
        <p:txBody>
          <a:bodyPr>
            <a:normAutofit/>
          </a:bodyPr>
          <a:lstStyle/>
          <a:p>
            <a:pPr indent="45720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03/08/2023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Day: Thursday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5:</a:t>
            </a:r>
            <a:r>
              <a:rPr lang="en-US" sz="1200" b="1"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basic of loc and iloc method</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24EDF4B-233B-33EA-C62B-26AEBA9A833C}"/>
              </a:ext>
            </a:extLst>
          </p:cNvPr>
          <p:cNvSpPr>
            <a:spLocks noGrp="1"/>
          </p:cNvSpPr>
          <p:nvPr>
            <p:ph idx="1"/>
          </p:nvPr>
        </p:nvSpPr>
        <p:spPr>
          <a:xfrm>
            <a:off x="1234440" y="1219200"/>
            <a:ext cx="8815413" cy="5029199"/>
          </a:xfrm>
        </p:spPr>
        <p:txBody>
          <a:bodyPr/>
          <a:lstStyle/>
          <a:p>
            <a:pPr>
              <a:buFont typeface="Arial" panose="020B0604020202020204" pitchFamily="34" charset="0"/>
              <a:buChar char="•"/>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loc</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and </a:t>
            </a: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iloc</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are two important methods in pandas, a popular data manipulation library in Python, used for indexing and selecting data from a DataFrame or Series.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0">
              <a:buNone/>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buNone/>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1.loc:</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It is primarily label-based indexing. we use this method to select rows and columns by their labels (names). </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indent="0">
              <a:buNone/>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Syntax</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df.loc[row_label, column_label]</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indent="0">
              <a:buNone/>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It also allows boolean indexing using conditionals.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indent="0">
              <a:buNone/>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buNone/>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2.iloc:</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This is primarily integer-based indexing. It is used to select rows and columns by their integer positions.</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indent="0">
              <a:buNone/>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Syntax:</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df.iloc[row_index, column_index]</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IN" sz="1200" dirty="0">
                <a:latin typeface="Times New Roman" panose="02020603050405020304" pitchFamily="18" charset="0"/>
                <a:cs typeface="Times New Roman" panose="02020603050405020304" pitchFamily="18" charset="0"/>
              </a:rPr>
              <a:t>Ex:</a:t>
            </a:r>
          </a:p>
          <a:p>
            <a:pPr marL="0" indent="0">
              <a:buNone/>
            </a:pPr>
            <a:r>
              <a:rPr lang="en-IN" sz="1200" dirty="0">
                <a:latin typeface="Times New Roman" panose="02020603050405020304" pitchFamily="18" charset="0"/>
                <a:cs typeface="Times New Roman" panose="02020603050405020304" pitchFamily="18" charset="0"/>
              </a:rPr>
              <a:t>	</a:t>
            </a:r>
          </a:p>
          <a:p>
            <a:pPr marL="0" indent="0">
              <a:buNone/>
            </a:pPr>
            <a:endParaRPr lang="en-IN" dirty="0"/>
          </a:p>
        </p:txBody>
      </p:sp>
      <p:pic>
        <p:nvPicPr>
          <p:cNvPr id="4" name="Picture 3">
            <a:extLst>
              <a:ext uri="{FF2B5EF4-FFF2-40B4-BE49-F238E27FC236}">
                <a16:creationId xmlns:a16="http://schemas.microsoft.com/office/drawing/2014/main" id="{32D94174-CDF6-EE4E-709A-EF4106B0E220}"/>
              </a:ext>
            </a:extLst>
          </p:cNvPr>
          <p:cNvPicPr>
            <a:picLocks noChangeAspect="1"/>
          </p:cNvPicPr>
          <p:nvPr/>
        </p:nvPicPr>
        <p:blipFill>
          <a:blip r:embed="rId2"/>
          <a:stretch>
            <a:fillRect/>
          </a:stretch>
        </p:blipFill>
        <p:spPr>
          <a:xfrm>
            <a:off x="2011044" y="3970020"/>
            <a:ext cx="6447155" cy="2819400"/>
          </a:xfrm>
          <a:prstGeom prst="rect">
            <a:avLst/>
          </a:prstGeom>
        </p:spPr>
      </p:pic>
    </p:spTree>
    <p:extLst>
      <p:ext uri="{BB962C8B-B14F-4D97-AF65-F5344CB8AC3E}">
        <p14:creationId xmlns:p14="http://schemas.microsoft.com/office/powerpoint/2010/main" val="1952145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A2D39-D050-5188-EEB7-AED602CB5BAB}"/>
              </a:ext>
            </a:extLst>
          </p:cNvPr>
          <p:cNvSpPr>
            <a:spLocks noGrp="1"/>
          </p:cNvSpPr>
          <p:nvPr>
            <p:ph type="title"/>
          </p:nvPr>
        </p:nvSpPr>
        <p:spPr/>
        <p:txBody>
          <a:bodyPr>
            <a:normAutofit/>
          </a:bodyPr>
          <a:lstStyle/>
          <a:p>
            <a:pPr indent="45720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04/08/2023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Day: Friday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5:</a:t>
            </a:r>
            <a:r>
              <a:rPr lang="en-US" sz="1200" b="1"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fillna() function in pandas </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DD5A899-1672-6324-AC1E-24E16EDB3654}"/>
              </a:ext>
            </a:extLst>
          </p:cNvPr>
          <p:cNvSpPr>
            <a:spLocks noGrp="1"/>
          </p:cNvSpPr>
          <p:nvPr>
            <p:ph idx="1"/>
          </p:nvPr>
        </p:nvSpPr>
        <p:spPr>
          <a:xfrm>
            <a:off x="1272540" y="1143000"/>
            <a:ext cx="8777313" cy="5105399"/>
          </a:xfrm>
        </p:spPr>
        <p:txBody>
          <a:bodyPr/>
          <a:lstStyle/>
          <a:p>
            <a:pPr lvl="0">
              <a:buFont typeface="Arial" panose="020B0604020202020204" pitchFamily="34" charset="0"/>
              <a:buChar char="•"/>
            </a:pPr>
            <a:r>
              <a:rPr lang="en-US" sz="1200" dirty="0">
                <a:effectLst/>
                <a:latin typeface="Times New Roman" panose="02020603050405020304" pitchFamily="18" charset="0"/>
                <a:ea typeface="Times New Roman" panose="02020603050405020304" pitchFamily="18" charset="0"/>
              </a:rPr>
              <a:t>The </a:t>
            </a:r>
            <a:r>
              <a:rPr lang="en-US" sz="1200" b="1" dirty="0">
                <a:effectLst/>
                <a:latin typeface="Times New Roman" panose="02020603050405020304" pitchFamily="18" charset="0"/>
                <a:ea typeface="Times New Roman" panose="02020603050405020304" pitchFamily="18" charset="0"/>
              </a:rPr>
              <a:t>fillna()</a:t>
            </a:r>
            <a:r>
              <a:rPr lang="en-US" sz="1200" dirty="0">
                <a:effectLst/>
                <a:latin typeface="Times New Roman" panose="02020603050405020304" pitchFamily="18" charset="0"/>
                <a:ea typeface="Times New Roman" panose="02020603050405020304" pitchFamily="18" charset="0"/>
              </a:rPr>
              <a:t> function in the Pandas library is used to fill missing or </a:t>
            </a:r>
            <a:r>
              <a:rPr lang="en-US" sz="1200" dirty="0" err="1">
                <a:effectLst/>
                <a:latin typeface="Times New Roman" panose="02020603050405020304" pitchFamily="18" charset="0"/>
                <a:ea typeface="Times New Roman" panose="02020603050405020304" pitchFamily="18" charset="0"/>
              </a:rPr>
              <a:t>NaN</a:t>
            </a:r>
            <a:r>
              <a:rPr lang="en-US" sz="1200" dirty="0">
                <a:effectLst/>
                <a:latin typeface="Times New Roman" panose="02020603050405020304" pitchFamily="18" charset="0"/>
                <a:ea typeface="Times New Roman" panose="02020603050405020304" pitchFamily="18" charset="0"/>
              </a:rPr>
              <a:t>(Not a Number) values in a DataFrame or Series with specified values.</a:t>
            </a:r>
            <a:endParaRPr lang="en-IN" sz="1200"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1200" dirty="0">
                <a:effectLst/>
                <a:latin typeface="Times New Roman" panose="02020603050405020304" pitchFamily="18" charset="0"/>
                <a:ea typeface="Times New Roman" panose="02020603050405020304" pitchFamily="18" charset="0"/>
              </a:rPr>
              <a:t>It's a powerful tool for data cleaning and preparation, as missing data can often lead to issues when performing analyses or creating visualizations</a:t>
            </a:r>
            <a:endParaRPr lang="en-IN" sz="1200" dirty="0">
              <a:effectLst/>
              <a:latin typeface="Times New Roman" panose="02020603050405020304" pitchFamily="18" charset="0"/>
              <a:ea typeface="Times New Roman" panose="02020603050405020304" pitchFamily="18" charset="0"/>
            </a:endParaRPr>
          </a:p>
          <a:p>
            <a:pPr>
              <a:buFont typeface="Arial" panose="020B0604020202020204" pitchFamily="34" charset="0"/>
              <a:buChar char="•"/>
            </a:pPr>
            <a:r>
              <a:rPr lang="en-US" sz="1200" dirty="0">
                <a:effectLst/>
                <a:latin typeface="Times New Roman" panose="02020603050405020304" pitchFamily="18" charset="0"/>
                <a:ea typeface="Times New Roman" panose="02020603050405020304" pitchFamily="18" charset="0"/>
              </a:rPr>
              <a:t>The </a:t>
            </a:r>
            <a:r>
              <a:rPr lang="en-US" sz="1200" b="1" dirty="0">
                <a:effectLst/>
                <a:latin typeface="Times New Roman" panose="02020603050405020304" pitchFamily="18" charset="0"/>
                <a:ea typeface="Times New Roman" panose="02020603050405020304" pitchFamily="18" charset="0"/>
              </a:rPr>
              <a:t>fillna()</a:t>
            </a:r>
            <a:r>
              <a:rPr lang="en-US" sz="1200" dirty="0">
                <a:effectLst/>
                <a:latin typeface="Times New Roman" panose="02020603050405020304" pitchFamily="18" charset="0"/>
                <a:ea typeface="Times New Roman" panose="02020603050405020304" pitchFamily="18" charset="0"/>
              </a:rPr>
              <a:t> function allows you to replace missing values with desired values, making your data more complete and ready for further processing.</a:t>
            </a:r>
            <a:endParaRPr lang="en-IN" sz="1200" dirty="0">
              <a:effectLst/>
              <a:latin typeface="Times New Roman" panose="02020603050405020304" pitchFamily="18" charset="0"/>
              <a:ea typeface="Times New Roman" panose="02020603050405020304" pitchFamily="18" charset="0"/>
            </a:endParaRPr>
          </a:p>
          <a:p>
            <a:pPr marL="571500" indent="0">
              <a:buNone/>
            </a:pPr>
            <a:r>
              <a:rPr lang="en-US" sz="1200" dirty="0">
                <a:effectLst/>
                <a:latin typeface="Times New Roman" panose="02020603050405020304" pitchFamily="18" charset="0"/>
                <a:ea typeface="Times New Roman" panose="02020603050405020304" pitchFamily="18" charset="0"/>
              </a:rPr>
              <a:t>1.Replacing with a Constant Value</a:t>
            </a:r>
            <a:endParaRPr lang="en-IN" sz="1200" dirty="0">
              <a:effectLst/>
              <a:latin typeface="Times New Roman" panose="02020603050405020304" pitchFamily="18" charset="0"/>
              <a:ea typeface="Times New Roman" panose="02020603050405020304" pitchFamily="18" charset="0"/>
            </a:endParaRPr>
          </a:p>
          <a:p>
            <a:pPr marL="0" indent="0">
              <a:buNone/>
            </a:pPr>
            <a:r>
              <a:rPr lang="en-IN" dirty="0"/>
              <a:t>	   </a:t>
            </a:r>
          </a:p>
        </p:txBody>
      </p:sp>
      <p:pic>
        <p:nvPicPr>
          <p:cNvPr id="4" name="Picture 3">
            <a:extLst>
              <a:ext uri="{FF2B5EF4-FFF2-40B4-BE49-F238E27FC236}">
                <a16:creationId xmlns:a16="http://schemas.microsoft.com/office/drawing/2014/main" id="{0BB14C55-D28E-4088-7580-9BFC1811A657}"/>
              </a:ext>
            </a:extLst>
          </p:cNvPr>
          <p:cNvPicPr>
            <a:picLocks noChangeAspect="1"/>
          </p:cNvPicPr>
          <p:nvPr/>
        </p:nvPicPr>
        <p:blipFill>
          <a:blip r:embed="rId2"/>
          <a:stretch>
            <a:fillRect/>
          </a:stretch>
        </p:blipFill>
        <p:spPr>
          <a:xfrm>
            <a:off x="1973580" y="2964179"/>
            <a:ext cx="6469380" cy="3284220"/>
          </a:xfrm>
          <a:prstGeom prst="rect">
            <a:avLst/>
          </a:prstGeom>
        </p:spPr>
      </p:pic>
    </p:spTree>
    <p:extLst>
      <p:ext uri="{BB962C8B-B14F-4D97-AF65-F5344CB8AC3E}">
        <p14:creationId xmlns:p14="http://schemas.microsoft.com/office/powerpoint/2010/main" val="1380771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EFA7-FA52-57B7-E3CC-FB5B0DA5AE1A}"/>
              </a:ext>
            </a:extLst>
          </p:cNvPr>
          <p:cNvSpPr>
            <a:spLocks noGrp="1"/>
          </p:cNvSpPr>
          <p:nvPr>
            <p:ph type="title"/>
          </p:nvPr>
        </p:nvSpPr>
        <p:spPr>
          <a:xfrm>
            <a:off x="1209040" y="609601"/>
            <a:ext cx="8648754" cy="1400530"/>
          </a:xfrm>
        </p:spPr>
        <p:txBody>
          <a:bodyPr/>
          <a:lstStyle/>
          <a:p>
            <a:pPr indent="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07/08/2023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Day: Monday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5.1:</a:t>
            </a:r>
            <a:r>
              <a:rPr lang="en-US" sz="1200" b="1" dirty="0">
                <a:solidFill>
                  <a:schemeClr val="bg2">
                    <a:lumMod val="40000"/>
                    <a:lumOff val="60000"/>
                  </a:schemeClr>
                </a:solidFill>
                <a:effectLst/>
                <a:latin typeface="Times New Roman" panose="02020603050405020304" pitchFamily="18" charset="0"/>
                <a:ea typeface="Times New Roman" panose="02020603050405020304" pitchFamily="18" charset="0"/>
              </a:rPr>
              <a:t> I</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ntroduction to Kaggle</a:t>
            </a:r>
            <a:br>
              <a:rPr lang="en-IN" sz="1200" dirty="0">
                <a:effectLst/>
                <a:latin typeface="Times New Roman" panose="02020603050405020304" pitchFamily="18" charset="0"/>
                <a:ea typeface="Times New Roman" panose="02020603050405020304" pitchFamily="18" charset="0"/>
              </a:rPr>
            </a:br>
            <a:endParaRPr lang="en-IN" sz="1200" dirty="0"/>
          </a:p>
        </p:txBody>
      </p:sp>
      <p:sp>
        <p:nvSpPr>
          <p:cNvPr id="3" name="Content Placeholder 2">
            <a:extLst>
              <a:ext uri="{FF2B5EF4-FFF2-40B4-BE49-F238E27FC236}">
                <a16:creationId xmlns:a16="http://schemas.microsoft.com/office/drawing/2014/main" id="{077B2425-F933-BE12-45D7-B51A836E60F7}"/>
              </a:ext>
            </a:extLst>
          </p:cNvPr>
          <p:cNvSpPr>
            <a:spLocks noGrp="1"/>
          </p:cNvSpPr>
          <p:nvPr>
            <p:ph idx="1"/>
          </p:nvPr>
        </p:nvSpPr>
        <p:spPr>
          <a:xfrm>
            <a:off x="550506" y="1259634"/>
            <a:ext cx="9499347" cy="4988766"/>
          </a:xfrm>
        </p:spPr>
        <p:txBody>
          <a:bodyPr/>
          <a:lstStyle/>
          <a:p>
            <a:pPr marL="571500" indent="0" algn="just">
              <a:buNone/>
            </a:pPr>
            <a:r>
              <a:rPr lang="en-US" sz="1200" b="0" i="0" dirty="0">
                <a:effectLst/>
                <a:latin typeface="Times New Roman" panose="02020603050405020304" pitchFamily="18" charset="0"/>
                <a:cs typeface="Times New Roman" panose="02020603050405020304" pitchFamily="18" charset="0"/>
              </a:rPr>
              <a:t>Kaggle is </a:t>
            </a:r>
            <a:r>
              <a:rPr lang="en-US" sz="1200" b="1" i="0" dirty="0">
                <a:effectLst/>
                <a:latin typeface="Times New Roman" panose="02020603050405020304" pitchFamily="18" charset="0"/>
                <a:cs typeface="Times New Roman" panose="02020603050405020304" pitchFamily="18" charset="0"/>
              </a:rPr>
              <a:t>the world's largest data science community</a:t>
            </a:r>
            <a:r>
              <a:rPr lang="en-US" sz="1200" b="0" i="0" dirty="0">
                <a:effectLst/>
                <a:latin typeface="Times New Roman" panose="02020603050405020304" pitchFamily="18" charset="0"/>
                <a:cs typeface="Times New Roman" panose="02020603050405020304" pitchFamily="18" charset="0"/>
              </a:rPr>
              <a:t> with powerful tools and resources to help to achieve our data science goals.</a:t>
            </a: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a:p>
            <a:pPr marL="857250" indent="-285750" algn="just">
              <a:buFont typeface="Arial" panose="020B0604020202020204" pitchFamily="34" charset="0"/>
              <a:buChar char="•"/>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Kaggle is a popular online platform that hosts data science competitions, provides datasets for practice, and offers a community for data scientists, machine learning enthusiasts, and researchers to collaborate and share knowledge. It was founded in 2010 and has since become a hub for individuals interested in honing their data science skills, participating in real-world challenges, and staying up-to-date with the latest developments in the field.</a:t>
            </a:r>
          </a:p>
          <a:p>
            <a:pPr marL="571500" indent="0" algn="just">
              <a:buNone/>
            </a:pP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5.2:</a:t>
            </a:r>
            <a:r>
              <a:rPr lang="en-US" sz="1200" b="1"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upload csv file from folder </a:t>
            </a:r>
          </a:p>
          <a:p>
            <a:pPr marL="571500" indent="0" algn="just">
              <a:buNone/>
            </a:pPr>
            <a:r>
              <a:rPr lang="en-US" sz="1200" dirty="0">
                <a:latin typeface="Times New Roman" panose="02020603050405020304" pitchFamily="18" charset="0"/>
                <a:cs typeface="Times New Roman" panose="02020603050405020304" pitchFamily="18" charset="0"/>
              </a:rPr>
              <a:t>	</a:t>
            </a:r>
            <a:endParaRPr lang="en-US" sz="1200" b="0" i="0" dirty="0">
              <a:effectLst/>
              <a:latin typeface="Times New Roman" panose="02020603050405020304" pitchFamily="18" charset="0"/>
              <a:cs typeface="Times New Roman" panose="02020603050405020304" pitchFamily="18" charset="0"/>
            </a:endParaRPr>
          </a:p>
          <a:p>
            <a:pPr marL="571500" indent="0" algn="just">
              <a:buNone/>
            </a:pPr>
            <a:endParaRPr lang="en-US" sz="1200" b="0" i="0" dirty="0">
              <a:effectLst/>
              <a:latin typeface="Times New Roman" panose="02020603050405020304" pitchFamily="18" charset="0"/>
              <a:cs typeface="Times New Roman" panose="02020603050405020304" pitchFamily="18" charset="0"/>
            </a:endParaRPr>
          </a:p>
          <a:p>
            <a:pPr marL="571500" indent="0" algn="just">
              <a:buNone/>
            </a:pPr>
            <a:endParaRPr lang="en-US" sz="1200" b="0" i="0" dirty="0">
              <a:effectLst/>
              <a:latin typeface="Times New Roman" panose="02020603050405020304" pitchFamily="18" charset="0"/>
              <a:cs typeface="Times New Roman" panose="02020603050405020304" pitchFamily="18" charset="0"/>
            </a:endParaRPr>
          </a:p>
          <a:p>
            <a:pPr marL="571500" indent="0" algn="just">
              <a:buNone/>
            </a:pPr>
            <a:endParaRPr lang="en-IN" sz="1200" dirty="0">
              <a:effectLst/>
              <a:latin typeface="Times New Roman" panose="02020603050405020304" pitchFamily="18" charset="0"/>
              <a:ea typeface="Times New Roman" panose="02020603050405020304" pitchFamily="18" charset="0"/>
            </a:endParaRPr>
          </a:p>
          <a:p>
            <a:pPr marL="0" indent="0">
              <a:buNone/>
            </a:pPr>
            <a:endParaRPr lang="en-IN" dirty="0"/>
          </a:p>
        </p:txBody>
      </p:sp>
      <p:pic>
        <p:nvPicPr>
          <p:cNvPr id="6" name="Content Placeholder 3">
            <a:extLst>
              <a:ext uri="{FF2B5EF4-FFF2-40B4-BE49-F238E27FC236}">
                <a16:creationId xmlns:a16="http://schemas.microsoft.com/office/drawing/2014/main" id="{34B09F72-1D5F-F9B1-9FA7-8E52BAC83D5E}"/>
              </a:ext>
            </a:extLst>
          </p:cNvPr>
          <p:cNvPicPr>
            <a:picLocks noChangeAspect="1"/>
          </p:cNvPicPr>
          <p:nvPr/>
        </p:nvPicPr>
        <p:blipFill>
          <a:blip r:embed="rId2"/>
          <a:stretch>
            <a:fillRect/>
          </a:stretch>
        </p:blipFill>
        <p:spPr>
          <a:xfrm>
            <a:off x="1143371" y="2660164"/>
            <a:ext cx="8177911" cy="3171469"/>
          </a:xfrm>
          <a:prstGeom prst="rect">
            <a:avLst/>
          </a:prstGeom>
        </p:spPr>
      </p:pic>
      <p:pic>
        <p:nvPicPr>
          <p:cNvPr id="7" name="Picture 6">
            <a:extLst>
              <a:ext uri="{FF2B5EF4-FFF2-40B4-BE49-F238E27FC236}">
                <a16:creationId xmlns:a16="http://schemas.microsoft.com/office/drawing/2014/main" id="{4D627C62-B722-C8E7-946A-3B91DA9726F3}"/>
              </a:ext>
            </a:extLst>
          </p:cNvPr>
          <p:cNvPicPr>
            <a:picLocks noChangeAspect="1"/>
          </p:cNvPicPr>
          <p:nvPr/>
        </p:nvPicPr>
        <p:blipFill>
          <a:blip r:embed="rId3"/>
          <a:stretch>
            <a:fillRect/>
          </a:stretch>
        </p:blipFill>
        <p:spPr>
          <a:xfrm>
            <a:off x="1143371" y="5598366"/>
            <a:ext cx="8177911" cy="883300"/>
          </a:xfrm>
          <a:prstGeom prst="rect">
            <a:avLst/>
          </a:prstGeom>
        </p:spPr>
      </p:pic>
    </p:spTree>
    <p:extLst>
      <p:ext uri="{BB962C8B-B14F-4D97-AF65-F5344CB8AC3E}">
        <p14:creationId xmlns:p14="http://schemas.microsoft.com/office/powerpoint/2010/main" val="3922162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91F2E-590A-5B3C-0AEF-285FFCF8FBFE}"/>
              </a:ext>
            </a:extLst>
          </p:cNvPr>
          <p:cNvSpPr>
            <a:spLocks noGrp="1"/>
          </p:cNvSpPr>
          <p:nvPr>
            <p:ph type="title"/>
          </p:nvPr>
        </p:nvSpPr>
        <p:spPr>
          <a:xfrm>
            <a:off x="647700" y="424726"/>
            <a:ext cx="9403134" cy="652182"/>
          </a:xfrm>
        </p:spPr>
        <p:txBody>
          <a:bodyPr>
            <a:normAutofit fontScale="90000"/>
          </a:bodyPr>
          <a:lstStyle/>
          <a:p>
            <a:pPr indent="45720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08/08/2023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Day: Tuesday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6.1:</a:t>
            </a:r>
            <a:r>
              <a:rPr lang="en-US" sz="1200" b="1"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Simple imputer</a:t>
            </a:r>
            <a:br>
              <a:rPr lang="en-IN" sz="1200" dirty="0">
                <a:effectLst/>
                <a:latin typeface="Times New Roman" panose="02020603050405020304" pitchFamily="18" charset="0"/>
                <a:ea typeface="Times New Roman" panose="02020603050405020304" pitchFamily="18" charset="0"/>
              </a:rPr>
            </a:br>
            <a:endParaRPr lang="en-IN" sz="1200" dirty="0"/>
          </a:p>
        </p:txBody>
      </p:sp>
      <p:sp>
        <p:nvSpPr>
          <p:cNvPr id="3" name="Content Placeholder 2">
            <a:extLst>
              <a:ext uri="{FF2B5EF4-FFF2-40B4-BE49-F238E27FC236}">
                <a16:creationId xmlns:a16="http://schemas.microsoft.com/office/drawing/2014/main" id="{449D1A1D-C5B8-33A8-E03F-CF4CFF74D17C}"/>
              </a:ext>
            </a:extLst>
          </p:cNvPr>
          <p:cNvSpPr>
            <a:spLocks noGrp="1"/>
          </p:cNvSpPr>
          <p:nvPr>
            <p:ph idx="1"/>
          </p:nvPr>
        </p:nvSpPr>
        <p:spPr>
          <a:xfrm>
            <a:off x="1143000" y="1051560"/>
            <a:ext cx="8906853" cy="5196839"/>
          </a:xfrm>
        </p:spPr>
        <p:txBody>
          <a:bodyPr/>
          <a:lstStyle/>
          <a:p>
            <a:pPr marL="0" indent="0" algn="just">
              <a:buNone/>
            </a:pPr>
            <a:r>
              <a:rPr lang="en-US" sz="1200" dirty="0">
                <a:effectLst/>
                <a:latin typeface="Times New Roman" panose="02020603050405020304" pitchFamily="18" charset="0"/>
                <a:ea typeface="Times New Roman" panose="02020603050405020304" pitchFamily="18" charset="0"/>
              </a:rPr>
              <a:t>In machine learning, missing data is a common issue that can affect the performance of models. The </a:t>
            </a:r>
            <a:r>
              <a:rPr lang="en-US" sz="1200" b="1" dirty="0">
                <a:effectLst/>
                <a:latin typeface="Times New Roman" panose="02020603050405020304" pitchFamily="18" charset="0"/>
                <a:ea typeface="Times New Roman" panose="02020603050405020304" pitchFamily="18" charset="0"/>
              </a:rPr>
              <a:t>SimpleImputer</a:t>
            </a:r>
            <a:r>
              <a:rPr lang="en-US" sz="1200" dirty="0">
                <a:effectLst/>
                <a:latin typeface="Times New Roman" panose="02020603050405020304" pitchFamily="18" charset="0"/>
                <a:ea typeface="Times New Roman" panose="02020603050405020304" pitchFamily="18" charset="0"/>
              </a:rPr>
              <a:t> class from the scikit-learn library provides a straightforward way to handle missing data by replacing missing values with either a constant or statistics like mean, median, or most frequent value. This helps to ensure that the dataset is suitable for training machine learning models. </a:t>
            </a:r>
          </a:p>
          <a:p>
            <a:pPr marL="0" indent="0">
              <a:buNone/>
            </a:pPr>
            <a:endParaRPr lang="en-US" sz="1200" dirty="0">
              <a:latin typeface="Times New Roman" panose="02020603050405020304" pitchFamily="18" charset="0"/>
              <a:ea typeface="Times New Roman" panose="02020603050405020304" pitchFamily="18" charset="0"/>
            </a:endParaRPr>
          </a:p>
          <a:p>
            <a:pPr marL="0" indent="0">
              <a:buNone/>
            </a:pPr>
            <a:endParaRPr lang="en-IN" sz="1200" dirty="0">
              <a:effectLst/>
              <a:latin typeface="Times New Roman" panose="02020603050405020304" pitchFamily="18" charset="0"/>
              <a:ea typeface="Times New Roman" panose="02020603050405020304" pitchFamily="18" charset="0"/>
            </a:endParaRPr>
          </a:p>
          <a:p>
            <a:pPr marL="0" indent="0">
              <a:buNone/>
            </a:pPr>
            <a:endParaRPr lang="en-IN" dirty="0"/>
          </a:p>
        </p:txBody>
      </p:sp>
      <p:pic>
        <p:nvPicPr>
          <p:cNvPr id="4" name="Picture 3">
            <a:extLst>
              <a:ext uri="{FF2B5EF4-FFF2-40B4-BE49-F238E27FC236}">
                <a16:creationId xmlns:a16="http://schemas.microsoft.com/office/drawing/2014/main" id="{813EE2C2-CC49-2396-7815-1210F77786BA}"/>
              </a:ext>
            </a:extLst>
          </p:cNvPr>
          <p:cNvPicPr>
            <a:picLocks noChangeAspect="1"/>
          </p:cNvPicPr>
          <p:nvPr/>
        </p:nvPicPr>
        <p:blipFill>
          <a:blip r:embed="rId2"/>
          <a:stretch>
            <a:fillRect/>
          </a:stretch>
        </p:blipFill>
        <p:spPr>
          <a:xfrm>
            <a:off x="1231867" y="1820574"/>
            <a:ext cx="7911378" cy="2387633"/>
          </a:xfrm>
          <a:prstGeom prst="rect">
            <a:avLst/>
          </a:prstGeom>
        </p:spPr>
      </p:pic>
      <p:pic>
        <p:nvPicPr>
          <p:cNvPr id="5" name="Content Placeholder 3">
            <a:extLst>
              <a:ext uri="{FF2B5EF4-FFF2-40B4-BE49-F238E27FC236}">
                <a16:creationId xmlns:a16="http://schemas.microsoft.com/office/drawing/2014/main" id="{988E7BBA-8D10-EAC5-E709-6FCC4EC1569D}"/>
              </a:ext>
            </a:extLst>
          </p:cNvPr>
          <p:cNvPicPr>
            <a:picLocks noChangeAspect="1"/>
          </p:cNvPicPr>
          <p:nvPr/>
        </p:nvPicPr>
        <p:blipFill>
          <a:blip r:embed="rId3"/>
          <a:stretch>
            <a:fillRect/>
          </a:stretch>
        </p:blipFill>
        <p:spPr>
          <a:xfrm>
            <a:off x="1230886" y="4208207"/>
            <a:ext cx="7912359" cy="2703871"/>
          </a:xfrm>
          <a:prstGeom prst="rect">
            <a:avLst/>
          </a:prstGeom>
        </p:spPr>
      </p:pic>
    </p:spTree>
    <p:extLst>
      <p:ext uri="{BB962C8B-B14F-4D97-AF65-F5344CB8AC3E}">
        <p14:creationId xmlns:p14="http://schemas.microsoft.com/office/powerpoint/2010/main" val="3906200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10F6B-70B8-F284-3431-9E8273E7206C}"/>
              </a:ext>
            </a:extLst>
          </p:cNvPr>
          <p:cNvSpPr>
            <a:spLocks noGrp="1"/>
          </p:cNvSpPr>
          <p:nvPr>
            <p:ph type="title"/>
          </p:nvPr>
        </p:nvSpPr>
        <p:spPr>
          <a:xfrm>
            <a:off x="660401" y="894080"/>
            <a:ext cx="8614228" cy="1739898"/>
          </a:xfrm>
        </p:spPr>
        <p:txBody>
          <a:bodyPr>
            <a:normAutofit fontScale="90000"/>
          </a:bodyPr>
          <a:lstStyle/>
          <a:p>
            <a:pPr indent="457200"/>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6.2:</a:t>
            </a:r>
            <a:r>
              <a:rPr lang="en-US" sz="1200" b="1"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pandas profiling</a:t>
            </a:r>
            <a:br>
              <a:rPr lang="en-US" sz="1200" dirty="0">
                <a:effectLst/>
                <a:latin typeface="Times New Roman" panose="02020603050405020304" pitchFamily="18" charset="0"/>
                <a:ea typeface="Times New Roman" panose="02020603050405020304" pitchFamily="18" charset="0"/>
              </a:rPr>
            </a:br>
            <a:br>
              <a:rPr lang="en-IN" sz="1800" dirty="0">
                <a:effectLst/>
                <a:latin typeface="Times New Roman" panose="02020603050405020304" pitchFamily="18" charset="0"/>
                <a:ea typeface="Times New Roman" panose="02020603050405020304" pitchFamily="18" charset="0"/>
              </a:rPr>
            </a:br>
            <a:r>
              <a:rPr lang="en-US" sz="1800" dirty="0">
                <a:solidFill>
                  <a:schemeClr val="tx1"/>
                </a:solidFill>
                <a:latin typeface="Times New Roman" panose="02020603050405020304" pitchFamily="18" charset="0"/>
                <a:ea typeface="Times New Roman" panose="02020603050405020304" pitchFamily="18" charset="0"/>
              </a:rPr>
              <a:t>	</a:t>
            </a:r>
            <a:r>
              <a:rPr lang="en-US" sz="1200" dirty="0">
                <a:solidFill>
                  <a:schemeClr val="tx1"/>
                </a:solidFill>
                <a:effectLst/>
                <a:latin typeface="Times New Roman" panose="02020603050405020304" pitchFamily="18" charset="0"/>
                <a:ea typeface="Times New Roman" panose="02020603050405020304" pitchFamily="18" charset="0"/>
              </a:rPr>
              <a:t>"pandas-profiling" is a popular library used to create an exploratory data analysis report for a Pandas </a:t>
            </a:r>
            <a:r>
              <a:rPr lang="en-US" sz="1200" dirty="0" err="1">
                <a:solidFill>
                  <a:schemeClr val="tx1"/>
                </a:solidFill>
                <a:effectLst/>
                <a:latin typeface="Times New Roman" panose="02020603050405020304" pitchFamily="18" charset="0"/>
                <a:ea typeface="Times New Roman" panose="02020603050405020304" pitchFamily="18" charset="0"/>
              </a:rPr>
              <a:t>DataFrame</a:t>
            </a:r>
            <a:r>
              <a:rPr lang="en-US" sz="1200" dirty="0">
                <a:solidFill>
                  <a:schemeClr val="tx1"/>
                </a:solidFill>
                <a:effectLst/>
                <a:latin typeface="Times New Roman" panose="02020603050405020304" pitchFamily="18" charset="0"/>
                <a:ea typeface="Times New Roman" panose="02020603050405020304" pitchFamily="18" charset="0"/>
              </a:rPr>
              <a:t>  This report includes various 	</a:t>
            </a:r>
            <a:br>
              <a:rPr lang="en-US" sz="1200" dirty="0">
                <a:solidFill>
                  <a:schemeClr val="tx1"/>
                </a:solidFill>
                <a:effectLst/>
                <a:latin typeface="Times New Roman" panose="02020603050405020304" pitchFamily="18" charset="0"/>
                <a:ea typeface="Times New Roman" panose="02020603050405020304" pitchFamily="18" charset="0"/>
              </a:rPr>
            </a:br>
            <a:r>
              <a:rPr lang="en-US" sz="1200" dirty="0">
                <a:solidFill>
                  <a:schemeClr val="tx1"/>
                </a:solidFill>
                <a:effectLst/>
                <a:latin typeface="Times New Roman" panose="02020603050405020304" pitchFamily="18" charset="0"/>
                <a:ea typeface="Times New Roman" panose="02020603050405020304" pitchFamily="18" charset="0"/>
              </a:rPr>
              <a:t>	statistics, visualizations, and insights about the data, which can be incredibly helpful during the initial stages of data analysis.</a:t>
            </a:r>
            <a:br>
              <a:rPr lang="en-US" sz="1200" dirty="0">
                <a:effectLst/>
                <a:latin typeface="Times New Roman" panose="02020603050405020304" pitchFamily="18" charset="0"/>
                <a:ea typeface="Times New Roman" panose="02020603050405020304" pitchFamily="18" charset="0"/>
              </a:rPr>
            </a:br>
            <a:r>
              <a:rPr lang="en-US" sz="1200" dirty="0">
                <a:effectLst/>
                <a:latin typeface="Times New Roman" panose="02020603050405020304" pitchFamily="18" charset="0"/>
                <a:ea typeface="Times New Roman" panose="02020603050405020304" pitchFamily="18" charset="0"/>
              </a:rPr>
              <a:t>	</a:t>
            </a:r>
            <a:br>
              <a:rPr lang="en-US" sz="1200" dirty="0">
                <a:effectLst/>
                <a:latin typeface="Times New Roman" panose="02020603050405020304" pitchFamily="18" charset="0"/>
                <a:ea typeface="Times New Roman" panose="02020603050405020304" pitchFamily="18" charset="0"/>
              </a:rPr>
            </a:br>
            <a:r>
              <a:rPr lang="en-US" sz="1200" dirty="0">
                <a:effectLst/>
                <a:latin typeface="Times New Roman" panose="02020603050405020304" pitchFamily="18" charset="0"/>
                <a:ea typeface="Times New Roman" panose="02020603050405020304" pitchFamily="18" charset="0"/>
              </a:rPr>
              <a:t>			</a:t>
            </a:r>
            <a:br>
              <a:rPr lang="en-IN" sz="1200" dirty="0">
                <a:effectLst/>
                <a:latin typeface="Times New Roman" panose="02020603050405020304" pitchFamily="18" charset="0"/>
                <a:ea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105413B-B96C-BEB8-A01B-AE002FEC38D7}"/>
              </a:ext>
            </a:extLst>
          </p:cNvPr>
          <p:cNvSpPr>
            <a:spLocks noGrp="1"/>
          </p:cNvSpPr>
          <p:nvPr>
            <p:ph idx="1"/>
          </p:nvPr>
        </p:nvSpPr>
        <p:spPr>
          <a:xfrm>
            <a:off x="1013460" y="1188720"/>
            <a:ext cx="9036393" cy="5059679"/>
          </a:xfrm>
        </p:spPr>
        <p:txBody>
          <a:bodyPr>
            <a:normAutofit/>
          </a:bodyPr>
          <a:lstStyle/>
          <a:p>
            <a:pPr marL="0" indent="0">
              <a:buNone/>
            </a:pPr>
            <a:r>
              <a:rPr lang="en-US" sz="1200" kern="0" dirty="0">
                <a:solidFill>
                  <a:schemeClr val="bg1"/>
                </a:solidFill>
                <a:effectLst/>
                <a:latin typeface="Times New Roman" panose="02020603050405020304" pitchFamily="18" charset="0"/>
                <a:ea typeface="Times New Roman" panose="02020603050405020304" pitchFamily="18" charset="0"/>
              </a:rPr>
              <a:t>                                     </a:t>
            </a:r>
          </a:p>
          <a:p>
            <a:pPr marL="0" indent="0">
              <a:buNone/>
            </a:pPr>
            <a:r>
              <a:rPr lang="en-US" sz="1200" kern="0" dirty="0">
                <a:solidFill>
                  <a:schemeClr val="bg1"/>
                </a:solidFill>
                <a:latin typeface="Times New Roman" panose="02020603050405020304" pitchFamily="18" charset="0"/>
                <a:ea typeface="Times New Roman" panose="02020603050405020304" pitchFamily="18" charset="0"/>
              </a:rPr>
              <a:t>                                                                                                                                                          </a:t>
            </a:r>
          </a:p>
          <a:p>
            <a:pPr marL="0" indent="0">
              <a:buNone/>
            </a:pPr>
            <a:endParaRPr lang="en-US" sz="1200" kern="0" dirty="0">
              <a:solidFill>
                <a:schemeClr val="bg1"/>
              </a:solidFill>
              <a:effectLst/>
              <a:latin typeface="Times New Roman" panose="02020603050405020304" pitchFamily="18" charset="0"/>
              <a:ea typeface="Times New Roman" panose="02020603050405020304" pitchFamily="18" charset="0"/>
            </a:endParaRPr>
          </a:p>
          <a:p>
            <a:pPr marL="0" indent="0">
              <a:buNone/>
            </a:pPr>
            <a:r>
              <a:rPr lang="en-US" sz="1200" kern="0" dirty="0">
                <a:solidFill>
                  <a:schemeClr val="bg1"/>
                </a:solidFill>
                <a:effectLst/>
                <a:latin typeface="Times New Roman" panose="02020603050405020304" pitchFamily="18" charset="0"/>
                <a:ea typeface="Times New Roman" panose="02020603050405020304" pitchFamily="18" charset="0"/>
              </a:rPr>
              <a:t>  </a:t>
            </a:r>
            <a:r>
              <a:rPr lang="en-US" sz="1200" kern="0" dirty="0">
                <a:solidFill>
                  <a:schemeClr val="bg2">
                    <a:lumMod val="40000"/>
                    <a:lumOff val="60000"/>
                  </a:schemeClr>
                </a:solidFill>
                <a:effectLst/>
                <a:latin typeface="Times New Roman" panose="02020603050405020304" pitchFamily="18" charset="0"/>
                <a:ea typeface="Times New Roman" panose="02020603050405020304" pitchFamily="18" charset="0"/>
              </a:rPr>
              <a:t>Task 6.3: Importing and Creating a Profile Report</a:t>
            </a:r>
          </a:p>
          <a:p>
            <a:pPr marL="0" indent="0">
              <a:buNone/>
            </a:pPr>
            <a:endParaRPr lang="en-IN" sz="1200" dirty="0"/>
          </a:p>
          <a:p>
            <a:pPr marL="0" indent="0">
              <a:buNone/>
            </a:pPr>
            <a:endParaRPr lang="en-IN" sz="1200" dirty="0"/>
          </a:p>
        </p:txBody>
      </p:sp>
      <p:pic>
        <p:nvPicPr>
          <p:cNvPr id="4" name="Picture 3">
            <a:extLst>
              <a:ext uri="{FF2B5EF4-FFF2-40B4-BE49-F238E27FC236}">
                <a16:creationId xmlns:a16="http://schemas.microsoft.com/office/drawing/2014/main" id="{0451B9A3-14C2-183B-0C43-E94A2ED6752B}"/>
              </a:ext>
            </a:extLst>
          </p:cNvPr>
          <p:cNvPicPr>
            <a:picLocks noChangeAspect="1"/>
          </p:cNvPicPr>
          <p:nvPr/>
        </p:nvPicPr>
        <p:blipFill>
          <a:blip r:embed="rId2"/>
          <a:stretch>
            <a:fillRect/>
          </a:stretch>
        </p:blipFill>
        <p:spPr>
          <a:xfrm>
            <a:off x="1225550" y="2633979"/>
            <a:ext cx="8161046" cy="3462021"/>
          </a:xfrm>
          <a:prstGeom prst="rect">
            <a:avLst/>
          </a:prstGeom>
        </p:spPr>
      </p:pic>
    </p:spTree>
    <p:extLst>
      <p:ext uri="{BB962C8B-B14F-4D97-AF65-F5344CB8AC3E}">
        <p14:creationId xmlns:p14="http://schemas.microsoft.com/office/powerpoint/2010/main" val="2374097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1E5FF-9F49-D9F9-97D9-BF32D90ACE04}"/>
              </a:ext>
            </a:extLst>
          </p:cNvPr>
          <p:cNvSpPr>
            <a:spLocks noGrp="1"/>
          </p:cNvSpPr>
          <p:nvPr>
            <p:ph type="title"/>
          </p:nvPr>
        </p:nvSpPr>
        <p:spPr/>
        <p:txBody>
          <a:bodyPr>
            <a:normAutofit/>
          </a:bodyPr>
          <a:lstStyle/>
          <a:p>
            <a:pPr indent="45720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09/08/2023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Day: Wednesday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7:</a:t>
            </a:r>
            <a:r>
              <a:rPr lang="en-US" sz="1200" b="1"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fit_transform method</a:t>
            </a:r>
            <a:r>
              <a:rPr lang="en-US" sz="1200" b="1" dirty="0">
                <a:solidFill>
                  <a:schemeClr val="bg2">
                    <a:lumMod val="40000"/>
                    <a:lumOff val="60000"/>
                  </a:schemeClr>
                </a:solidFill>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4B80FA5-8E1E-B62A-2C3B-2FD4A12F9A8A}"/>
              </a:ext>
            </a:extLst>
          </p:cNvPr>
          <p:cNvSpPr>
            <a:spLocks noGrp="1"/>
          </p:cNvSpPr>
          <p:nvPr>
            <p:ph idx="1"/>
          </p:nvPr>
        </p:nvSpPr>
        <p:spPr>
          <a:xfrm>
            <a:off x="1026160" y="1168400"/>
            <a:ext cx="9023693" cy="5709322"/>
          </a:xfrm>
        </p:spPr>
        <p:txBody>
          <a:bodyPr/>
          <a:lstStyle/>
          <a:p>
            <a:pPr marL="114300" indent="0">
              <a:buNone/>
            </a:pPr>
            <a:r>
              <a:rPr lang="en-US" sz="1200" dirty="0">
                <a:effectLst/>
                <a:latin typeface="Times New Roman" panose="02020603050405020304" pitchFamily="18" charset="0"/>
                <a:ea typeface="Times New Roman" panose="02020603050405020304" pitchFamily="18" charset="0"/>
              </a:rPr>
              <a:t>The </a:t>
            </a:r>
            <a:r>
              <a:rPr lang="en-US" sz="1200" b="1" dirty="0">
                <a:effectLst/>
                <a:latin typeface="Times New Roman" panose="02020603050405020304" pitchFamily="18" charset="0"/>
                <a:ea typeface="Times New Roman" panose="02020603050405020304" pitchFamily="18" charset="0"/>
              </a:rPr>
              <a:t>fit_transform</a:t>
            </a:r>
            <a:r>
              <a:rPr lang="en-US" sz="1200" dirty="0">
                <a:effectLst/>
                <a:latin typeface="Times New Roman" panose="02020603050405020304" pitchFamily="18" charset="0"/>
                <a:ea typeface="Times New Roman" panose="02020603050405020304" pitchFamily="18" charset="0"/>
              </a:rPr>
              <a:t> method is commonly used in Python libraries such as scikit-learn (sklearn) and is typically associated with data preprocessing and feature engineering tasks, especially when working with machine learning models.</a:t>
            </a:r>
            <a:r>
              <a:rPr lang="en-US" sz="1200" b="1"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200" dirty="0">
                <a:effectLst/>
                <a:latin typeface="Times New Roman" panose="02020603050405020304" pitchFamily="18" charset="0"/>
                <a:ea typeface="Times New Roman" panose="02020603050405020304" pitchFamily="18" charset="0"/>
              </a:rPr>
              <a:t>It's a combination of two fundamental steps:</a:t>
            </a:r>
            <a:endParaRPr lang="en-IN" sz="1200" dirty="0">
              <a:latin typeface="Times New Roman" panose="02020603050405020304" pitchFamily="18" charset="0"/>
              <a:ea typeface="Times New Roman" panose="02020603050405020304" pitchFamily="18" charset="0"/>
            </a:endParaRPr>
          </a:p>
          <a:p>
            <a:pPr marL="0" lvl="0" indent="0">
              <a:buNone/>
            </a:pPr>
            <a:r>
              <a:rPr lang="en-US" sz="1200" dirty="0">
                <a:effectLst/>
                <a:latin typeface="Times New Roman" panose="02020603050405020304" pitchFamily="18" charset="0"/>
                <a:ea typeface="Times New Roman" panose="02020603050405020304" pitchFamily="18" charset="0"/>
              </a:rPr>
              <a:t>	1.</a:t>
            </a:r>
            <a:r>
              <a:rPr lang="en-US" sz="1200" b="1" dirty="0">
                <a:effectLst/>
                <a:latin typeface="Times New Roman" panose="02020603050405020304" pitchFamily="18" charset="0"/>
                <a:ea typeface="Times New Roman" panose="02020603050405020304" pitchFamily="18" charset="0"/>
              </a:rPr>
              <a:t>Fit:</a:t>
            </a:r>
            <a:r>
              <a:rPr lang="en-US" sz="1200" dirty="0">
                <a:effectLst/>
                <a:latin typeface="Times New Roman" panose="02020603050405020304" pitchFamily="18" charset="0"/>
                <a:ea typeface="Times New Roman" panose="02020603050405020304" pitchFamily="18" charset="0"/>
              </a:rPr>
              <a:t> In this step, the method "learns" something from the data.</a:t>
            </a:r>
            <a:endParaRPr lang="en-IN" sz="1200" dirty="0">
              <a:latin typeface="Times New Roman" panose="02020603050405020304" pitchFamily="18" charset="0"/>
              <a:ea typeface="Times New Roman" panose="02020603050405020304" pitchFamily="18" charset="0"/>
            </a:endParaRPr>
          </a:p>
          <a:p>
            <a:pPr marL="0" lvl="0" indent="0">
              <a:buNone/>
            </a:pPr>
            <a:r>
              <a:rPr lang="en-US" sz="1200" dirty="0">
                <a:effectLst/>
                <a:latin typeface="Times New Roman" panose="02020603050405020304" pitchFamily="18" charset="0"/>
                <a:ea typeface="Times New Roman" panose="02020603050405020304" pitchFamily="18" charset="0"/>
              </a:rPr>
              <a:t>	2.</a:t>
            </a:r>
            <a:r>
              <a:rPr lang="en-US" sz="1200" b="1" dirty="0">
                <a:effectLst/>
                <a:latin typeface="Times New Roman" panose="02020603050405020304" pitchFamily="18" charset="0"/>
                <a:ea typeface="Times New Roman" panose="02020603050405020304" pitchFamily="18" charset="0"/>
              </a:rPr>
              <a:t>Transform:</a:t>
            </a:r>
            <a:r>
              <a:rPr lang="en-US" sz="1200" dirty="0">
                <a:effectLst/>
                <a:latin typeface="Times New Roman" panose="02020603050405020304" pitchFamily="18" charset="0"/>
                <a:ea typeface="Times New Roman" panose="02020603050405020304" pitchFamily="18" charset="0"/>
              </a:rPr>
              <a:t> Once the method has learned from the data, it then applies this knowledge to the data.</a:t>
            </a:r>
            <a:endParaRPr lang="en-IN" sz="1200" dirty="0">
              <a:latin typeface="Times New Roman" panose="02020603050405020304" pitchFamily="18" charset="0"/>
              <a:ea typeface="Times New Roman" panose="02020603050405020304" pitchFamily="18" charset="0"/>
            </a:endParaRPr>
          </a:p>
          <a:p>
            <a:pPr marL="0" lvl="0" indent="0">
              <a:buNone/>
            </a:pPr>
            <a:r>
              <a:rPr lang="en-IN" sz="1200"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Ex:</a:t>
            </a:r>
            <a:endParaRPr lang="en-IN" sz="1200" dirty="0">
              <a:effectLst/>
              <a:latin typeface="Times New Roman" panose="02020603050405020304" pitchFamily="18" charset="0"/>
              <a:ea typeface="Times New Roman" panose="02020603050405020304" pitchFamily="18" charset="0"/>
            </a:endParaRPr>
          </a:p>
          <a:p>
            <a:pPr marL="0" indent="0">
              <a:buNone/>
            </a:pPr>
            <a:r>
              <a:rPr lang="en-IN" dirty="0"/>
              <a:t>	</a:t>
            </a:r>
          </a:p>
        </p:txBody>
      </p:sp>
      <p:pic>
        <p:nvPicPr>
          <p:cNvPr id="4" name="Picture 3">
            <a:extLst>
              <a:ext uri="{FF2B5EF4-FFF2-40B4-BE49-F238E27FC236}">
                <a16:creationId xmlns:a16="http://schemas.microsoft.com/office/drawing/2014/main" id="{BF1D6BD9-8CBA-5C1E-8635-BF3C6288F2C3}"/>
              </a:ext>
            </a:extLst>
          </p:cNvPr>
          <p:cNvPicPr>
            <a:picLocks noChangeAspect="1"/>
          </p:cNvPicPr>
          <p:nvPr/>
        </p:nvPicPr>
        <p:blipFill>
          <a:blip r:embed="rId2"/>
          <a:stretch>
            <a:fillRect/>
          </a:stretch>
        </p:blipFill>
        <p:spPr>
          <a:xfrm>
            <a:off x="1914207" y="2916556"/>
            <a:ext cx="7290753" cy="3941444"/>
          </a:xfrm>
          <a:prstGeom prst="rect">
            <a:avLst/>
          </a:prstGeom>
        </p:spPr>
      </p:pic>
    </p:spTree>
    <p:extLst>
      <p:ext uri="{BB962C8B-B14F-4D97-AF65-F5344CB8AC3E}">
        <p14:creationId xmlns:p14="http://schemas.microsoft.com/office/powerpoint/2010/main" val="2045645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19ADC-DAA7-044D-2DE2-239612E316CD}"/>
              </a:ext>
            </a:extLst>
          </p:cNvPr>
          <p:cNvSpPr>
            <a:spLocks noGrp="1"/>
          </p:cNvSpPr>
          <p:nvPr>
            <p:ph type="title"/>
          </p:nvPr>
        </p:nvSpPr>
        <p:spPr>
          <a:xfrm>
            <a:off x="533401" y="452718"/>
            <a:ext cx="9517434" cy="896022"/>
          </a:xfrm>
        </p:spPr>
        <p:txBody>
          <a:bodyPr>
            <a:normAutofit fontScale="90000"/>
          </a:bodyPr>
          <a:lstStyle/>
          <a:p>
            <a:pPr indent="45720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10/08/2023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Day: Thursday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7:</a:t>
            </a:r>
            <a:r>
              <a:rPr lang="en-US" sz="1200" b="1" dirty="0">
                <a:solidFill>
                  <a:schemeClr val="bg2">
                    <a:lumMod val="40000"/>
                    <a:lumOff val="60000"/>
                  </a:schemeClr>
                </a:solidFill>
                <a:effectLst/>
                <a:latin typeface="Times New Roman" panose="02020603050405020304" pitchFamily="18" charset="0"/>
                <a:ea typeface="Times New Roman" panose="02020603050405020304" pitchFamily="18" charset="0"/>
              </a:rPr>
              <a:t>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Data transformation: Standardization and normalization</a:t>
            </a:r>
            <a:br>
              <a:rPr lang="en-IN" sz="18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US" sz="1800" dirty="0">
                <a:solidFill>
                  <a:srgbClr val="000000"/>
                </a:solidFill>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4572192-9E11-B995-2E50-5D0AE0604669}"/>
              </a:ext>
            </a:extLst>
          </p:cNvPr>
          <p:cNvSpPr>
            <a:spLocks noGrp="1"/>
          </p:cNvSpPr>
          <p:nvPr>
            <p:ph idx="1"/>
          </p:nvPr>
        </p:nvSpPr>
        <p:spPr>
          <a:xfrm>
            <a:off x="904240" y="1158240"/>
            <a:ext cx="9145613" cy="5090159"/>
          </a:xfrm>
        </p:spPr>
        <p:txBody>
          <a:bodyPr>
            <a:normAutofit/>
          </a:bodyPr>
          <a:lstStyle/>
          <a:p>
            <a:pPr marL="114300" indent="0" algn="just">
              <a:buNone/>
            </a:pPr>
            <a:r>
              <a:rPr lang="en-US" sz="1200" dirty="0">
                <a:effectLst/>
                <a:latin typeface="Times New Roman" panose="02020603050405020304" pitchFamily="18" charset="0"/>
                <a:ea typeface="Times New Roman" panose="02020603050405020304" pitchFamily="18" charset="0"/>
              </a:rPr>
              <a:t>Data transformation is a crucial step in the data preprocessing phase of data analysis and machine learning. It involves changing the format, structure, or values of data to make it more suitable for analysis or modeling. There are various data transformation methods, and the choice of method depends on the specific characteristics of the data and the goals of the analysis.</a:t>
            </a:r>
            <a:endParaRPr lang="en-IN" sz="1200" dirty="0">
              <a:effectLst/>
              <a:latin typeface="Times New Roman" panose="02020603050405020304" pitchFamily="18" charset="0"/>
              <a:ea typeface="Times New Roman" panose="02020603050405020304" pitchFamily="18" charset="0"/>
            </a:endParaRPr>
          </a:p>
          <a:p>
            <a:pPr marL="0" indent="0" algn="just">
              <a:buNone/>
            </a:pPr>
            <a:r>
              <a:rPr lang="en-US" sz="1200"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marL="0" indent="0">
              <a:buNone/>
            </a:pPr>
            <a:r>
              <a:rPr lang="en-US" sz="1200" dirty="0">
                <a:effectLst/>
                <a:latin typeface="Times New Roman" panose="02020603050405020304" pitchFamily="18" charset="0"/>
                <a:ea typeface="Times New Roman" panose="02020603050405020304" pitchFamily="18" charset="0"/>
              </a:rPr>
              <a:t>	There are two types of data transformation method:</a:t>
            </a:r>
            <a:endParaRPr lang="en-IN" sz="1200" dirty="0">
              <a:effectLst/>
              <a:latin typeface="Times New Roman" panose="02020603050405020304" pitchFamily="18" charset="0"/>
              <a:ea typeface="Times New Roman" panose="02020603050405020304" pitchFamily="18" charset="0"/>
            </a:endParaRPr>
          </a:p>
          <a:p>
            <a:pPr marL="0" indent="0">
              <a:buNone/>
            </a:pPr>
            <a:r>
              <a:rPr lang="en-US" sz="1200" b="1" dirty="0">
                <a:latin typeface="Times New Roman" panose="02020603050405020304" pitchFamily="18" charset="0"/>
                <a:ea typeface="Times New Roman" panose="02020603050405020304" pitchFamily="18" charset="0"/>
              </a:rPr>
              <a:t>	</a:t>
            </a:r>
            <a:r>
              <a:rPr lang="en-US" sz="1200" b="1" dirty="0">
                <a:effectLst/>
                <a:latin typeface="Times New Roman" panose="02020603050405020304" pitchFamily="18" charset="0"/>
                <a:ea typeface="Times New Roman" panose="02020603050405020304" pitchFamily="18" charset="0"/>
              </a:rPr>
              <a:t>1.standardization:</a:t>
            </a:r>
            <a:endParaRPr lang="en-IN" sz="1200" dirty="0">
              <a:effectLst/>
              <a:latin typeface="Times New Roman" panose="02020603050405020304" pitchFamily="18" charset="0"/>
              <a:ea typeface="Times New Roman" panose="02020603050405020304" pitchFamily="18" charset="0"/>
            </a:endParaRPr>
          </a:p>
          <a:p>
            <a:pPr marL="114300" indent="0">
              <a:buNone/>
            </a:pPr>
            <a:r>
              <a:rPr lang="en-US" sz="1200" dirty="0">
                <a:effectLst/>
                <a:latin typeface="Times New Roman" panose="02020603050405020304" pitchFamily="18" charset="0"/>
                <a:ea typeface="Times New Roman" panose="02020603050405020304" pitchFamily="18" charset="0"/>
              </a:rPr>
              <a:t>	Standardization is a data transformation method used in data preprocessing to rescale features or 	variables to have a mean of 0 and a 	standard deviation of 1. This process makes it easier to compare and work with data that may have different scales, ensuring 	that all features contribute 	equally to the analysis. </a:t>
            </a:r>
          </a:p>
          <a:p>
            <a:pPr marL="114300" indent="0">
              <a:buNone/>
            </a:pPr>
            <a:endParaRPr lang="en-IN" sz="1200" dirty="0">
              <a:effectLst/>
              <a:latin typeface="Times New Roman" panose="02020603050405020304" pitchFamily="18" charset="0"/>
              <a:ea typeface="Times New Roman" panose="02020603050405020304" pitchFamily="18" charset="0"/>
            </a:endParaRPr>
          </a:p>
          <a:p>
            <a:pPr marL="114300" indent="0">
              <a:buNone/>
            </a:pPr>
            <a:r>
              <a:rPr lang="en-US" sz="1200" dirty="0">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The standardization </a:t>
            </a:r>
            <a:r>
              <a:rPr lang="en-US" sz="1200" b="1" dirty="0">
                <a:effectLst/>
                <a:latin typeface="Times New Roman" panose="02020603050405020304" pitchFamily="18" charset="0"/>
                <a:ea typeface="Times New Roman" panose="02020603050405020304" pitchFamily="18" charset="0"/>
              </a:rPr>
              <a:t>formula</a:t>
            </a:r>
            <a:r>
              <a:rPr lang="en-US" sz="1200" dirty="0">
                <a:effectLst/>
                <a:latin typeface="Times New Roman" panose="02020603050405020304" pitchFamily="18" charset="0"/>
                <a:ea typeface="Times New Roman" panose="02020603050405020304" pitchFamily="18" charset="0"/>
              </a:rPr>
              <a:t> for a feature x is:</a:t>
            </a:r>
            <a:endParaRPr lang="en-IN" sz="1200" dirty="0">
              <a:effectLst/>
              <a:latin typeface="Times New Roman" panose="02020603050405020304" pitchFamily="18" charset="0"/>
              <a:ea typeface="Times New Roman" panose="02020603050405020304" pitchFamily="18" charset="0"/>
            </a:endParaRPr>
          </a:p>
          <a:p>
            <a:pPr marL="114300" indent="0">
              <a:buNone/>
            </a:pPr>
            <a:r>
              <a:rPr lang="en-US" sz="1200" dirty="0">
                <a:effectLst/>
                <a:latin typeface="Times New Roman" panose="02020603050405020304" pitchFamily="18" charset="0"/>
                <a:ea typeface="Times New Roman" panose="02020603050405020304" pitchFamily="18" charset="0"/>
              </a:rPr>
              <a:t>	Standardized Value (z)=</a:t>
            </a:r>
            <a:r>
              <a:rPr lang="en-US" sz="1200" i="1" dirty="0">
                <a:effectLst/>
                <a:latin typeface="Times New Roman" panose="02020603050405020304" pitchFamily="18" charset="0"/>
                <a:ea typeface="Times New Roman" panose="02020603050405020304" pitchFamily="18" charset="0"/>
              </a:rPr>
              <a:t>σx</a:t>
            </a:r>
            <a:r>
              <a:rPr lang="en-US" sz="1200" dirty="0">
                <a:effectLst/>
                <a:latin typeface="Times New Roman" panose="02020603050405020304" pitchFamily="18" charset="0"/>
                <a:ea typeface="Times New Roman" panose="02020603050405020304" pitchFamily="18" charset="0"/>
              </a:rPr>
              <a:t>/</a:t>
            </a:r>
            <a:r>
              <a:rPr lang="en-US" sz="1200" i="1" dirty="0">
                <a:effectLst/>
                <a:latin typeface="Times New Roman" panose="02020603050405020304" pitchFamily="18" charset="0"/>
                <a:ea typeface="Times New Roman" panose="02020603050405020304" pitchFamily="18" charset="0"/>
              </a:rPr>
              <a:t>μ</a:t>
            </a:r>
            <a:r>
              <a:rPr lang="en-US" sz="1200" dirty="0">
                <a:effectLst/>
                <a:latin typeface="Times New Roman" panose="02020603050405020304" pitchFamily="18" charset="0"/>
                <a:ea typeface="Times New Roman" panose="02020603050405020304" pitchFamily="18" charset="0"/>
              </a:rPr>
              <a:t>​</a:t>
            </a:r>
          </a:p>
          <a:p>
            <a:pPr marL="114300" indent="0">
              <a:buNone/>
            </a:pPr>
            <a:r>
              <a:rPr lang="en-IN" sz="1200" dirty="0">
                <a:effectLst/>
                <a:latin typeface="Times New Roman" panose="02020603050405020304" pitchFamily="18" charset="0"/>
                <a:ea typeface="Times New Roman" panose="02020603050405020304" pitchFamily="18" charset="0"/>
              </a:rPr>
              <a:t>	Where:</a:t>
            </a:r>
          </a:p>
          <a:p>
            <a:pPr lvl="1" indent="-342900">
              <a:buSzPts val="1000"/>
              <a:buFont typeface="Symbol" panose="05050102010706020507" pitchFamily="18" charset="2"/>
              <a:buChar char=""/>
              <a:tabLst>
                <a:tab pos="457200" algn="l"/>
              </a:tabLst>
            </a:pPr>
            <a:r>
              <a:rPr lang="en-IN" sz="1200" i="1" dirty="0">
                <a:effectLst/>
                <a:latin typeface="Times New Roman" panose="02020603050405020304" pitchFamily="18" charset="0"/>
                <a:ea typeface="Times New Roman" panose="02020603050405020304" pitchFamily="18" charset="0"/>
              </a:rPr>
              <a:t>x</a:t>
            </a:r>
            <a:r>
              <a:rPr lang="en-IN" sz="1200" dirty="0">
                <a:effectLst/>
                <a:latin typeface="Times New Roman" panose="02020603050405020304" pitchFamily="18" charset="0"/>
                <a:ea typeface="Times New Roman" panose="02020603050405020304" pitchFamily="18" charset="0"/>
              </a:rPr>
              <a:t> is the original value of the feature.</a:t>
            </a:r>
          </a:p>
          <a:p>
            <a:pPr lvl="1" indent="-342900">
              <a:buSzPts val="1000"/>
              <a:buFont typeface="Symbol" panose="05050102010706020507" pitchFamily="18" charset="2"/>
              <a:buChar char=""/>
              <a:tabLst>
                <a:tab pos="457200" algn="l"/>
              </a:tabLst>
            </a:pPr>
            <a:r>
              <a:rPr lang="en-IN" sz="1200" i="1" dirty="0">
                <a:effectLst/>
                <a:latin typeface="Times New Roman" panose="02020603050405020304" pitchFamily="18" charset="0"/>
                <a:ea typeface="Times New Roman" panose="02020603050405020304" pitchFamily="18" charset="0"/>
              </a:rPr>
              <a:t>μ</a:t>
            </a:r>
            <a:r>
              <a:rPr lang="en-IN" sz="1200" dirty="0">
                <a:effectLst/>
                <a:latin typeface="Times New Roman" panose="02020603050405020304" pitchFamily="18" charset="0"/>
                <a:ea typeface="Times New Roman" panose="02020603050405020304" pitchFamily="18" charset="0"/>
              </a:rPr>
              <a:t> is the mean (average) value of the feature.</a:t>
            </a:r>
          </a:p>
          <a:p>
            <a:pPr lvl="1" indent="-342900">
              <a:buSzPts val="1000"/>
              <a:buFont typeface="Symbol" panose="05050102010706020507" pitchFamily="18" charset="2"/>
              <a:buChar char=""/>
              <a:tabLst>
                <a:tab pos="457200" algn="l"/>
              </a:tabLst>
            </a:pPr>
            <a:r>
              <a:rPr lang="en-IN" sz="1200" i="1" dirty="0">
                <a:effectLst/>
                <a:latin typeface="Times New Roman" panose="02020603050405020304" pitchFamily="18" charset="0"/>
                <a:ea typeface="Times New Roman" panose="02020603050405020304" pitchFamily="18" charset="0"/>
              </a:rPr>
              <a:t>σ</a:t>
            </a:r>
            <a:r>
              <a:rPr lang="en-IN" sz="1200" dirty="0">
                <a:effectLst/>
                <a:latin typeface="Times New Roman" panose="02020603050405020304" pitchFamily="18" charset="0"/>
                <a:ea typeface="Times New Roman" panose="02020603050405020304" pitchFamily="18" charset="0"/>
              </a:rPr>
              <a:t> is the standard deviation of the feature.</a:t>
            </a:r>
          </a:p>
          <a:p>
            <a:pPr marL="0" indent="0">
              <a:buNone/>
            </a:pPr>
            <a:endParaRPr lang="en-IN" dirty="0"/>
          </a:p>
        </p:txBody>
      </p:sp>
    </p:spTree>
    <p:extLst>
      <p:ext uri="{BB962C8B-B14F-4D97-AF65-F5344CB8AC3E}">
        <p14:creationId xmlns:p14="http://schemas.microsoft.com/office/powerpoint/2010/main" val="2222663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7ED1E-9CA2-42F0-31BF-DF003918DFDC}"/>
              </a:ext>
            </a:extLst>
          </p:cNvPr>
          <p:cNvSpPr>
            <a:spLocks noGrp="1"/>
          </p:cNvSpPr>
          <p:nvPr>
            <p:ph type="title"/>
          </p:nvPr>
        </p:nvSpPr>
        <p:spPr>
          <a:xfrm>
            <a:off x="830580" y="462878"/>
            <a:ext cx="9220254" cy="370242"/>
          </a:xfrm>
        </p:spPr>
        <p:txBody>
          <a:bodyPr>
            <a:normAutofit fontScale="90000"/>
          </a:bodyPr>
          <a:lstStyle/>
          <a:p>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a:t>
            </a:r>
            <a:r>
              <a:rPr lang="en-US" sz="1200" dirty="0">
                <a:solidFill>
                  <a:schemeClr val="bg2">
                    <a:lumMod val="40000"/>
                    <a:lumOff val="60000"/>
                  </a:schemeClr>
                </a:solidFill>
                <a:latin typeface="Times New Roman" panose="02020603050405020304" pitchFamily="18" charset="0"/>
                <a:cs typeface="Times New Roman" panose="02020603050405020304" pitchFamily="18" charset="0"/>
              </a:rPr>
              <a:t>Ex:</a:t>
            </a:r>
            <a:endParaRPr lang="en-IN" sz="1200" dirty="0">
              <a:solidFill>
                <a:schemeClr val="bg2">
                  <a:lumMod val="40000"/>
                  <a:lumOff val="60000"/>
                </a:schemeClr>
              </a:solidFill>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40A67CC6-9801-5C73-D118-27525CA3B965}"/>
              </a:ext>
            </a:extLst>
          </p:cNvPr>
          <p:cNvPicPr>
            <a:picLocks noGrp="1" noChangeAspect="1"/>
          </p:cNvPicPr>
          <p:nvPr>
            <p:ph idx="1"/>
          </p:nvPr>
        </p:nvPicPr>
        <p:blipFill>
          <a:blip r:embed="rId2"/>
          <a:stretch>
            <a:fillRect/>
          </a:stretch>
        </p:blipFill>
        <p:spPr>
          <a:xfrm>
            <a:off x="1444820" y="1837923"/>
            <a:ext cx="7456584" cy="4175760"/>
          </a:xfrm>
          <a:prstGeom prst="rect">
            <a:avLst/>
          </a:prstGeom>
        </p:spPr>
      </p:pic>
    </p:spTree>
    <p:extLst>
      <p:ext uri="{BB962C8B-B14F-4D97-AF65-F5344CB8AC3E}">
        <p14:creationId xmlns:p14="http://schemas.microsoft.com/office/powerpoint/2010/main" val="511991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DD05D-1E47-044A-A272-D82E000DA46B}"/>
              </a:ext>
            </a:extLst>
          </p:cNvPr>
          <p:cNvSpPr>
            <a:spLocks noGrp="1"/>
          </p:cNvSpPr>
          <p:nvPr>
            <p:ph type="title"/>
          </p:nvPr>
        </p:nvSpPr>
        <p:spPr>
          <a:xfrm>
            <a:off x="1427583" y="609600"/>
            <a:ext cx="7846417" cy="396239"/>
          </a:xfrm>
        </p:spPr>
        <p:txBody>
          <a:bodyPr>
            <a:normAutofit fontScale="90000"/>
          </a:bodyPr>
          <a:lstStyle/>
          <a:p>
            <a:r>
              <a:rPr lang="en-IN" sz="1300" b="1" dirty="0">
                <a:solidFill>
                  <a:schemeClr val="tx1"/>
                </a:solidFill>
                <a:effectLst/>
                <a:latin typeface="Times New Roman" panose="02020603050405020304" pitchFamily="18" charset="0"/>
                <a:ea typeface="Times New Roman" panose="02020603050405020304" pitchFamily="18" charset="0"/>
              </a:rPr>
              <a:t>2.normalization:</a:t>
            </a:r>
            <a:br>
              <a:rPr lang="en-IN" sz="36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BB0EBCB-7DB0-94FA-2AD5-500AAA5D57AD}"/>
              </a:ext>
            </a:extLst>
          </p:cNvPr>
          <p:cNvSpPr>
            <a:spLocks noGrp="1"/>
          </p:cNvSpPr>
          <p:nvPr>
            <p:ph idx="1"/>
          </p:nvPr>
        </p:nvSpPr>
        <p:spPr>
          <a:xfrm>
            <a:off x="1544320" y="1005840"/>
            <a:ext cx="8505533" cy="5242559"/>
          </a:xfrm>
        </p:spPr>
        <p:txBody>
          <a:bodyPr>
            <a:normAutofit/>
          </a:bodyPr>
          <a:lstStyle/>
          <a:p>
            <a:pPr marL="342900" lvl="0" indent="-342900">
              <a:buFont typeface="Symbol" panose="05050102010706020507" pitchFamily="18" charset="2"/>
              <a:buChar char=""/>
            </a:pPr>
            <a:r>
              <a:rPr lang="en-US" sz="1300" dirty="0">
                <a:effectLst/>
                <a:latin typeface="Times New Roman" panose="02020603050405020304" pitchFamily="18" charset="0"/>
                <a:ea typeface="Times New Roman" panose="02020603050405020304" pitchFamily="18" charset="0"/>
              </a:rPr>
              <a:t>Normalization is a data transformation technique used to scale numerical data features to a standard range, typically between 0 and 1.</a:t>
            </a:r>
            <a:endParaRPr lang="en-IN" sz="13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300" dirty="0">
                <a:effectLst/>
                <a:latin typeface="Times New Roman" panose="02020603050405020304" pitchFamily="18" charset="0"/>
                <a:ea typeface="Times New Roman" panose="02020603050405020304" pitchFamily="18" charset="0"/>
              </a:rPr>
              <a:t>Normalization ensures that all features have equal weight during model training and prevents some features from dominating others due to their larger scales.</a:t>
            </a:r>
            <a:endParaRPr lang="en-IN" sz="13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300" dirty="0">
                <a:effectLst/>
                <a:latin typeface="Times New Roman" panose="02020603050405020304" pitchFamily="18" charset="0"/>
                <a:ea typeface="Times New Roman" panose="02020603050405020304" pitchFamily="18" charset="0"/>
              </a:rPr>
              <a:t>The most common form of normalization is Min-Max scaling, which transforms data to a specific range.</a:t>
            </a:r>
            <a:endParaRPr lang="en-IN" sz="1300" dirty="0">
              <a:effectLst/>
              <a:latin typeface="Times New Roman" panose="02020603050405020304" pitchFamily="18" charset="0"/>
              <a:ea typeface="Times New Roman" panose="02020603050405020304" pitchFamily="18" charset="0"/>
            </a:endParaRPr>
          </a:p>
          <a:p>
            <a:pPr marL="1028700" indent="0">
              <a:buNone/>
            </a:pPr>
            <a:r>
              <a:rPr lang="en-US" sz="1300" dirty="0">
                <a:effectLst/>
                <a:latin typeface="Times New Roman" panose="02020603050405020304" pitchFamily="18" charset="0"/>
                <a:ea typeface="Times New Roman" panose="02020603050405020304" pitchFamily="18" charset="0"/>
              </a:rPr>
              <a:t> </a:t>
            </a:r>
            <a:endParaRPr lang="en-IN" sz="1300" dirty="0">
              <a:effectLst/>
              <a:latin typeface="Times New Roman" panose="02020603050405020304" pitchFamily="18" charset="0"/>
              <a:ea typeface="Times New Roman" panose="02020603050405020304" pitchFamily="18" charset="0"/>
            </a:endParaRPr>
          </a:p>
          <a:p>
            <a:pPr marL="800100" indent="0">
              <a:buNone/>
            </a:pPr>
            <a:r>
              <a:rPr lang="en-US" sz="1300" dirty="0">
                <a:effectLst/>
                <a:latin typeface="Times New Roman" panose="02020603050405020304" pitchFamily="18" charset="0"/>
                <a:ea typeface="Times New Roman" panose="02020603050405020304" pitchFamily="18" charset="0"/>
              </a:rPr>
              <a:t>The </a:t>
            </a:r>
            <a:r>
              <a:rPr lang="en-US" sz="1300" b="1" dirty="0">
                <a:effectLst/>
                <a:latin typeface="Times New Roman" panose="02020603050405020304" pitchFamily="18" charset="0"/>
                <a:ea typeface="Times New Roman" panose="02020603050405020304" pitchFamily="18" charset="0"/>
              </a:rPr>
              <a:t>formula</a:t>
            </a:r>
            <a:r>
              <a:rPr lang="en-US" sz="1300" dirty="0">
                <a:effectLst/>
                <a:latin typeface="Times New Roman" panose="02020603050405020304" pitchFamily="18" charset="0"/>
                <a:ea typeface="Times New Roman" panose="02020603050405020304" pitchFamily="18" charset="0"/>
              </a:rPr>
              <a:t> for Min-Max scaling is:</a:t>
            </a:r>
            <a:endParaRPr lang="en-IN" sz="1300" dirty="0">
              <a:effectLst/>
              <a:latin typeface="Times New Roman" panose="02020603050405020304" pitchFamily="18" charset="0"/>
              <a:ea typeface="Times New Roman" panose="02020603050405020304" pitchFamily="18" charset="0"/>
            </a:endParaRPr>
          </a:p>
          <a:p>
            <a:pPr marL="800100" indent="0">
              <a:buNone/>
            </a:pPr>
            <a:r>
              <a:rPr lang="en-US" sz="1300" dirty="0">
                <a:effectLst/>
                <a:latin typeface="Times New Roman" panose="02020603050405020304" pitchFamily="18" charset="0"/>
                <a:ea typeface="Times New Roman" panose="02020603050405020304" pitchFamily="18" charset="0"/>
              </a:rPr>
              <a:t> </a:t>
            </a:r>
            <a:endParaRPr lang="en-IN" sz="1300" dirty="0">
              <a:effectLst/>
              <a:latin typeface="Times New Roman" panose="02020603050405020304" pitchFamily="18" charset="0"/>
              <a:ea typeface="Times New Roman" panose="02020603050405020304" pitchFamily="18" charset="0"/>
            </a:endParaRPr>
          </a:p>
          <a:p>
            <a:pPr marL="800100" indent="0">
              <a:buNone/>
            </a:pPr>
            <a:r>
              <a:rPr lang="en-US" sz="1300" i="1" dirty="0">
                <a:effectLst/>
                <a:latin typeface="Times New Roman" panose="02020603050405020304" pitchFamily="18" charset="0"/>
                <a:ea typeface="Times New Roman" panose="02020603050405020304" pitchFamily="18" charset="0"/>
              </a:rPr>
              <a:t>Xn</a:t>
            </a:r>
            <a:r>
              <a:rPr lang="en-US" sz="1300" dirty="0">
                <a:effectLst/>
                <a:latin typeface="Times New Roman" panose="02020603050405020304" pitchFamily="18" charset="0"/>
                <a:ea typeface="Times New Roman" panose="02020603050405020304" pitchFamily="18" charset="0"/>
              </a:rPr>
              <a:t>​</a:t>
            </a:r>
            <a:r>
              <a:rPr lang="en-US" sz="1300" i="1" dirty="0">
                <a:effectLst/>
                <a:latin typeface="Times New Roman" panose="02020603050405020304" pitchFamily="18" charset="0"/>
                <a:ea typeface="Times New Roman" panose="02020603050405020304" pitchFamily="18" charset="0"/>
              </a:rPr>
              <a:t>ormalized</a:t>
            </a:r>
            <a:r>
              <a:rPr lang="en-US" sz="1300" dirty="0">
                <a:effectLst/>
                <a:latin typeface="Times New Roman" panose="02020603050405020304" pitchFamily="18" charset="0"/>
                <a:ea typeface="Times New Roman" panose="02020603050405020304" pitchFamily="18" charset="0"/>
              </a:rPr>
              <a:t>=</a:t>
            </a:r>
            <a:r>
              <a:rPr lang="en-US" sz="1300" i="1" dirty="0">
                <a:effectLst/>
                <a:latin typeface="Times New Roman" panose="02020603050405020304" pitchFamily="18" charset="0"/>
                <a:ea typeface="Times New Roman" panose="02020603050405020304" pitchFamily="18" charset="0"/>
              </a:rPr>
              <a:t>X-</a:t>
            </a:r>
            <a:r>
              <a:rPr lang="en-US" sz="1300" i="1" dirty="0" err="1">
                <a:effectLst/>
                <a:latin typeface="Times New Roman" panose="02020603050405020304" pitchFamily="18" charset="0"/>
                <a:ea typeface="Times New Roman" panose="02020603050405020304" pitchFamily="18" charset="0"/>
              </a:rPr>
              <a:t>X</a:t>
            </a:r>
            <a:r>
              <a:rPr lang="en-US" sz="1300" i="1" baseline="-25000" dirty="0" err="1">
                <a:effectLst/>
                <a:latin typeface="Times New Roman" panose="02020603050405020304" pitchFamily="18" charset="0"/>
                <a:ea typeface="Times New Roman" panose="02020603050405020304" pitchFamily="18" charset="0"/>
              </a:rPr>
              <a:t>min</a:t>
            </a:r>
            <a:r>
              <a:rPr lang="en-US" sz="1300" i="1" dirty="0">
                <a:effectLst/>
                <a:latin typeface="Times New Roman" panose="02020603050405020304" pitchFamily="18" charset="0"/>
                <a:ea typeface="Times New Roman" panose="02020603050405020304" pitchFamily="18" charset="0"/>
              </a:rPr>
              <a:t>/</a:t>
            </a:r>
            <a:r>
              <a:rPr lang="en-US" sz="1300" i="1" dirty="0" err="1">
                <a:effectLst/>
                <a:latin typeface="Times New Roman" panose="02020603050405020304" pitchFamily="18" charset="0"/>
                <a:ea typeface="Times New Roman" panose="02020603050405020304" pitchFamily="18" charset="0"/>
              </a:rPr>
              <a:t>X</a:t>
            </a:r>
            <a:r>
              <a:rPr lang="en-US" sz="1300" i="1" baseline="-25000" dirty="0" err="1">
                <a:effectLst/>
                <a:latin typeface="Times New Roman" panose="02020603050405020304" pitchFamily="18" charset="0"/>
                <a:ea typeface="Times New Roman" panose="02020603050405020304" pitchFamily="18" charset="0"/>
              </a:rPr>
              <a:t>max-</a:t>
            </a:r>
            <a:r>
              <a:rPr lang="en-US" sz="1300" i="1" dirty="0" err="1">
                <a:effectLst/>
                <a:latin typeface="Times New Roman" panose="02020603050405020304" pitchFamily="18" charset="0"/>
                <a:ea typeface="Times New Roman" panose="02020603050405020304" pitchFamily="18" charset="0"/>
              </a:rPr>
              <a:t>X</a:t>
            </a:r>
            <a:r>
              <a:rPr lang="en-US" sz="1300" i="1" baseline="-25000" dirty="0" err="1">
                <a:effectLst/>
                <a:latin typeface="Times New Roman" panose="02020603050405020304" pitchFamily="18" charset="0"/>
                <a:ea typeface="Times New Roman" panose="02020603050405020304" pitchFamily="18" charset="0"/>
              </a:rPr>
              <a:t>min</a:t>
            </a:r>
            <a:endParaRPr lang="en-IN" sz="1300" dirty="0">
              <a:effectLst/>
              <a:latin typeface="Times New Roman" panose="02020603050405020304" pitchFamily="18" charset="0"/>
              <a:ea typeface="Times New Roman" panose="02020603050405020304" pitchFamily="18" charset="0"/>
            </a:endParaRPr>
          </a:p>
          <a:p>
            <a:pPr marL="800100" indent="0">
              <a:buNone/>
            </a:pPr>
            <a:r>
              <a:rPr lang="en-US" sz="1300" i="1" baseline="-25000" dirty="0">
                <a:effectLst/>
                <a:latin typeface="Times New Roman" panose="02020603050405020304" pitchFamily="18" charset="0"/>
                <a:ea typeface="Times New Roman" panose="02020603050405020304" pitchFamily="18" charset="0"/>
              </a:rPr>
              <a:t> </a:t>
            </a:r>
            <a:endParaRPr lang="en-IN" sz="1300" dirty="0">
              <a:effectLst/>
              <a:latin typeface="Times New Roman" panose="02020603050405020304" pitchFamily="18" charset="0"/>
              <a:ea typeface="Times New Roman" panose="02020603050405020304" pitchFamily="18" charset="0"/>
            </a:endParaRPr>
          </a:p>
          <a:p>
            <a:pPr marL="800100" indent="0">
              <a:buNone/>
            </a:pPr>
            <a:r>
              <a:rPr lang="en-IN" sz="1300" i="1" dirty="0">
                <a:effectLst/>
                <a:latin typeface="Times New Roman" panose="02020603050405020304" pitchFamily="18" charset="0"/>
                <a:ea typeface="Times New Roman" panose="02020603050405020304" pitchFamily="18" charset="0"/>
              </a:rPr>
              <a:t>Where:</a:t>
            </a:r>
            <a:endParaRPr lang="en-IN" sz="1300" dirty="0">
              <a:effectLst/>
              <a:latin typeface="Times New Roman" panose="02020603050405020304" pitchFamily="18" charset="0"/>
              <a:ea typeface="Times New Roman" panose="02020603050405020304" pitchFamily="18" charset="0"/>
            </a:endParaRPr>
          </a:p>
          <a:p>
            <a:pPr indent="0">
              <a:buNone/>
            </a:pPr>
            <a:r>
              <a:rPr lang="en-IN" sz="1300" i="1" dirty="0">
                <a:effectLst/>
                <a:latin typeface="Times New Roman" panose="02020603050405020304" pitchFamily="18" charset="0"/>
                <a:ea typeface="Times New Roman" panose="02020603050405020304" pitchFamily="18" charset="0"/>
              </a:rPr>
              <a:t>			</a:t>
            </a:r>
            <a:r>
              <a:rPr lang="en-IN" sz="1300" i="1" dirty="0" err="1">
                <a:effectLst/>
                <a:latin typeface="Times New Roman" panose="02020603050405020304" pitchFamily="18" charset="0"/>
                <a:ea typeface="Times New Roman" panose="02020603050405020304" pitchFamily="18" charset="0"/>
              </a:rPr>
              <a:t>Xn</a:t>
            </a:r>
            <a:r>
              <a:rPr lang="en-IN" sz="1300" i="1" dirty="0">
                <a:effectLst/>
                <a:latin typeface="Times New Roman" panose="02020603050405020304" pitchFamily="18" charset="0"/>
                <a:ea typeface="Times New Roman" panose="02020603050405020304" pitchFamily="18" charset="0"/>
              </a:rPr>
              <a:t>​</a:t>
            </a:r>
            <a:r>
              <a:rPr lang="en-IN" sz="1300" i="1" dirty="0" err="1">
                <a:effectLst/>
                <a:latin typeface="Times New Roman" panose="02020603050405020304" pitchFamily="18" charset="0"/>
                <a:ea typeface="Times New Roman" panose="02020603050405020304" pitchFamily="18" charset="0"/>
              </a:rPr>
              <a:t>ormalized</a:t>
            </a:r>
            <a:r>
              <a:rPr lang="en-IN" sz="1300" i="1" dirty="0">
                <a:effectLst/>
                <a:latin typeface="Times New Roman" panose="02020603050405020304" pitchFamily="18" charset="0"/>
                <a:ea typeface="Times New Roman" panose="02020603050405020304" pitchFamily="18" charset="0"/>
              </a:rPr>
              <a:t> is the normalized value of the feature.</a:t>
            </a:r>
            <a:endParaRPr lang="en-IN" sz="1300" dirty="0">
              <a:effectLst/>
              <a:latin typeface="Times New Roman" panose="02020603050405020304" pitchFamily="18" charset="0"/>
              <a:ea typeface="Times New Roman" panose="02020603050405020304" pitchFamily="18" charset="0"/>
            </a:endParaRPr>
          </a:p>
          <a:p>
            <a:pPr lvl="3" indent="-342900">
              <a:buSzPts val="1000"/>
              <a:buFont typeface="Symbol" panose="05050102010706020507" pitchFamily="18" charset="2"/>
              <a:buChar char=""/>
              <a:tabLst>
                <a:tab pos="457200" algn="l"/>
              </a:tabLst>
            </a:pPr>
            <a:r>
              <a:rPr lang="en-IN" sz="1200" i="1" dirty="0">
                <a:effectLst/>
                <a:latin typeface="Times New Roman" panose="02020603050405020304" pitchFamily="18" charset="0"/>
                <a:ea typeface="Times New Roman" panose="02020603050405020304" pitchFamily="18" charset="0"/>
              </a:rPr>
              <a:t>X is the original value of the feature.</a:t>
            </a:r>
            <a:endParaRPr lang="en-IN" sz="1200" dirty="0">
              <a:effectLst/>
              <a:latin typeface="Times New Roman" panose="02020603050405020304" pitchFamily="18" charset="0"/>
              <a:ea typeface="Times New Roman" panose="02020603050405020304" pitchFamily="18" charset="0"/>
            </a:endParaRPr>
          </a:p>
          <a:p>
            <a:pPr lvl="3" indent="-342900">
              <a:buSzPts val="1000"/>
              <a:buFont typeface="Symbol" panose="05050102010706020507" pitchFamily="18" charset="2"/>
              <a:buChar char=""/>
              <a:tabLst>
                <a:tab pos="457200" algn="l"/>
              </a:tabLst>
            </a:pPr>
            <a:r>
              <a:rPr lang="en-IN" sz="1200" i="1" dirty="0" err="1">
                <a:effectLst/>
                <a:latin typeface="Times New Roman" panose="02020603050405020304" pitchFamily="18" charset="0"/>
                <a:ea typeface="Times New Roman" panose="02020603050405020304" pitchFamily="18" charset="0"/>
              </a:rPr>
              <a:t>Xm</a:t>
            </a:r>
            <a:r>
              <a:rPr lang="en-IN" sz="1200" i="1" dirty="0">
                <a:effectLst/>
                <a:latin typeface="Times New Roman" panose="02020603050405020304" pitchFamily="18" charset="0"/>
                <a:ea typeface="Times New Roman" panose="02020603050405020304" pitchFamily="18" charset="0"/>
              </a:rPr>
              <a:t>​in is the minimum value of the feature in the dataset.</a:t>
            </a:r>
            <a:endParaRPr lang="en-IN" sz="1200" dirty="0">
              <a:effectLst/>
              <a:latin typeface="Times New Roman" panose="02020603050405020304" pitchFamily="18" charset="0"/>
              <a:ea typeface="Times New Roman" panose="02020603050405020304" pitchFamily="18" charset="0"/>
            </a:endParaRPr>
          </a:p>
          <a:p>
            <a:pPr lvl="3" indent="-342900">
              <a:buSzPts val="1000"/>
              <a:buFont typeface="Symbol" panose="05050102010706020507" pitchFamily="18" charset="2"/>
              <a:buChar char=""/>
              <a:tabLst>
                <a:tab pos="457200" algn="l"/>
              </a:tabLst>
            </a:pPr>
            <a:r>
              <a:rPr lang="en-IN" sz="1200" i="1" dirty="0" err="1">
                <a:effectLst/>
                <a:latin typeface="Times New Roman" panose="02020603050405020304" pitchFamily="18" charset="0"/>
                <a:ea typeface="Times New Roman" panose="02020603050405020304" pitchFamily="18" charset="0"/>
              </a:rPr>
              <a:t>Xm</a:t>
            </a:r>
            <a:r>
              <a:rPr lang="en-IN" sz="1200" i="1" dirty="0">
                <a:effectLst/>
                <a:latin typeface="Times New Roman" panose="02020603050405020304" pitchFamily="18" charset="0"/>
                <a:ea typeface="Times New Roman" panose="02020603050405020304" pitchFamily="18" charset="0"/>
              </a:rPr>
              <a:t>​</a:t>
            </a:r>
            <a:r>
              <a:rPr lang="en-IN" sz="1200" i="1" dirty="0" err="1">
                <a:effectLst/>
                <a:latin typeface="Times New Roman" panose="02020603050405020304" pitchFamily="18" charset="0"/>
                <a:ea typeface="Times New Roman" panose="02020603050405020304" pitchFamily="18" charset="0"/>
              </a:rPr>
              <a:t>ax</a:t>
            </a:r>
            <a:r>
              <a:rPr lang="en-IN" sz="1200" i="1" dirty="0">
                <a:effectLst/>
                <a:latin typeface="Times New Roman" panose="02020603050405020304" pitchFamily="18" charset="0"/>
                <a:ea typeface="Times New Roman" panose="02020603050405020304" pitchFamily="18" charset="0"/>
              </a:rPr>
              <a:t> is the maximum value of the feature in the dataset.</a:t>
            </a:r>
            <a:endParaRPr lang="en-IN" sz="12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28791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06019-E9E8-D349-6EE7-16D193E830CE}"/>
              </a:ext>
            </a:extLst>
          </p:cNvPr>
          <p:cNvSpPr>
            <a:spLocks noGrp="1"/>
          </p:cNvSpPr>
          <p:nvPr>
            <p:ph type="title"/>
          </p:nvPr>
        </p:nvSpPr>
        <p:spPr>
          <a:xfrm>
            <a:off x="1137920" y="561183"/>
            <a:ext cx="8779853" cy="871377"/>
          </a:xfrm>
        </p:spPr>
        <p:txBody>
          <a:bodyPr/>
          <a:lstStyle/>
          <a:p>
            <a:r>
              <a:rPr lang="en-US" sz="1200" dirty="0">
                <a:solidFill>
                  <a:schemeClr val="tx1"/>
                </a:solidFill>
                <a:latin typeface="Times New Roman" panose="02020603050405020304" pitchFamily="18" charset="0"/>
                <a:cs typeface="Times New Roman" panose="02020603050405020304" pitchFamily="18" charset="0"/>
              </a:rPr>
              <a:t>Ex:</a:t>
            </a:r>
            <a:endParaRPr lang="en-IN" sz="1200" dirty="0">
              <a:solidFill>
                <a:schemeClr val="tx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E17041DD-57C4-7C7C-56F9-FFAA6CA9F115}"/>
              </a:ext>
            </a:extLst>
          </p:cNvPr>
          <p:cNvPicPr>
            <a:picLocks noGrp="1" noChangeAspect="1"/>
          </p:cNvPicPr>
          <p:nvPr>
            <p:ph idx="1"/>
          </p:nvPr>
        </p:nvPicPr>
        <p:blipFill>
          <a:blip r:embed="rId2"/>
          <a:stretch>
            <a:fillRect/>
          </a:stretch>
        </p:blipFill>
        <p:spPr>
          <a:xfrm>
            <a:off x="1589728" y="4692935"/>
            <a:ext cx="7936825" cy="1813717"/>
          </a:xfrm>
          <a:prstGeom prst="rect">
            <a:avLst/>
          </a:prstGeom>
        </p:spPr>
      </p:pic>
      <p:pic>
        <p:nvPicPr>
          <p:cNvPr id="4" name="Picture 3">
            <a:extLst>
              <a:ext uri="{FF2B5EF4-FFF2-40B4-BE49-F238E27FC236}">
                <a16:creationId xmlns:a16="http://schemas.microsoft.com/office/drawing/2014/main" id="{5E78565F-4CCF-8505-77FB-FE8224AE3812}"/>
              </a:ext>
            </a:extLst>
          </p:cNvPr>
          <p:cNvPicPr>
            <a:picLocks noChangeAspect="1"/>
          </p:cNvPicPr>
          <p:nvPr/>
        </p:nvPicPr>
        <p:blipFill>
          <a:blip r:embed="rId3"/>
          <a:stretch>
            <a:fillRect/>
          </a:stretch>
        </p:blipFill>
        <p:spPr>
          <a:xfrm>
            <a:off x="1589729" y="1073435"/>
            <a:ext cx="7936826" cy="3619500"/>
          </a:xfrm>
          <a:prstGeom prst="rect">
            <a:avLst/>
          </a:prstGeom>
        </p:spPr>
      </p:pic>
    </p:spTree>
    <p:extLst>
      <p:ext uri="{BB962C8B-B14F-4D97-AF65-F5344CB8AC3E}">
        <p14:creationId xmlns:p14="http://schemas.microsoft.com/office/powerpoint/2010/main" val="2723037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42053-B58C-B0C7-647B-7C3D289D934F}"/>
              </a:ext>
            </a:extLst>
          </p:cNvPr>
          <p:cNvSpPr>
            <a:spLocks noGrp="1"/>
          </p:cNvSpPr>
          <p:nvPr>
            <p:ph type="title"/>
          </p:nvPr>
        </p:nvSpPr>
        <p:spPr/>
        <p:txBody>
          <a:bodyPr/>
          <a:lstStyle/>
          <a:p>
            <a:pPr indent="45720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11/08/2023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Day: Friday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Task 8: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label </a:t>
            </a:r>
            <a:r>
              <a:rPr lang="en-US" sz="1200" dirty="0">
                <a:solidFill>
                  <a:schemeClr val="bg2">
                    <a:lumMod val="40000"/>
                    <a:lumOff val="60000"/>
                  </a:schemeClr>
                </a:solidFill>
                <a:latin typeface="Times New Roman" panose="02020603050405020304" pitchFamily="18" charset="0"/>
                <a:ea typeface="Times New Roman" panose="02020603050405020304" pitchFamily="18" charset="0"/>
              </a:rPr>
              <a:t>e</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ncoding in python</a:t>
            </a:r>
            <a:br>
              <a:rPr lang="en-IN" sz="1800" dirty="0">
                <a:effectLst/>
                <a:latin typeface="Times New Roman" panose="02020603050405020304" pitchFamily="18" charset="0"/>
                <a:ea typeface="Times New Roman" panose="02020603050405020304" pitchFamily="18" charset="0"/>
              </a:rPr>
            </a:br>
            <a:r>
              <a:rPr lang="en-US" sz="1800" dirty="0">
                <a:solidFill>
                  <a:srgbClr val="00000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1A8E1EA8-F1D2-8AEE-4E41-06443AAEFDFD}"/>
              </a:ext>
            </a:extLst>
          </p:cNvPr>
          <p:cNvSpPr>
            <a:spLocks noGrp="1"/>
          </p:cNvSpPr>
          <p:nvPr>
            <p:ph idx="1"/>
          </p:nvPr>
        </p:nvSpPr>
        <p:spPr>
          <a:xfrm>
            <a:off x="1178560" y="1150621"/>
            <a:ext cx="8596973" cy="5097778"/>
          </a:xfrm>
        </p:spPr>
        <p:txBody>
          <a:bodyPr/>
          <a:lstStyle/>
          <a:p>
            <a:pPr marL="0" indent="0">
              <a:buNone/>
            </a:pPr>
            <a:r>
              <a:rPr lang="en-US" sz="1200" dirty="0">
                <a:effectLst/>
                <a:latin typeface="Times New Roman" panose="02020603050405020304" pitchFamily="18" charset="0"/>
                <a:ea typeface="Times New Roman" panose="02020603050405020304" pitchFamily="18" charset="0"/>
              </a:rPr>
              <a:t>Label encoding is a technique used in machine learning and data preprocessing to convert categorical data (text-based labels) into numerical values, which can be used by machine learning algorithms(because machine learning models  require numerical inputs).</a:t>
            </a:r>
            <a:endParaRPr lang="en-IN" sz="1200" dirty="0">
              <a:effectLst/>
              <a:latin typeface="Times New Roman" panose="02020603050405020304" pitchFamily="18" charset="0"/>
              <a:ea typeface="Times New Roman" panose="02020603050405020304" pitchFamily="18" charset="0"/>
            </a:endParaRPr>
          </a:p>
          <a:p>
            <a:pPr marL="0" indent="0">
              <a:buNone/>
            </a:pPr>
            <a:endParaRPr lang="en-IN" sz="1200" dirty="0">
              <a:latin typeface="Times New Roman" panose="02020603050405020304" pitchFamily="18" charset="0"/>
              <a:cs typeface="Times New Roman" panose="02020603050405020304" pitchFamily="18" charset="0"/>
            </a:endParaRPr>
          </a:p>
          <a:p>
            <a:pPr marL="0" indent="0">
              <a:buNone/>
            </a:pPr>
            <a:r>
              <a:rPr lang="en-IN" sz="1200" dirty="0">
                <a:latin typeface="Times New Roman" panose="02020603050405020304" pitchFamily="18" charset="0"/>
                <a:cs typeface="Times New Roman" panose="02020603050405020304" pitchFamily="18" charset="0"/>
              </a:rPr>
              <a:t>Ex:</a:t>
            </a:r>
          </a:p>
          <a:p>
            <a:pPr marL="0" indent="0">
              <a:buNone/>
            </a:pPr>
            <a:r>
              <a:rPr lang="en-IN" sz="1200" dirty="0">
                <a:latin typeface="Times New Roman" panose="02020603050405020304" pitchFamily="18" charset="0"/>
                <a:cs typeface="Times New Roman" panose="02020603050405020304" pitchFamily="18" charset="0"/>
              </a:rPr>
              <a:t>	</a:t>
            </a:r>
          </a:p>
        </p:txBody>
      </p:sp>
      <p:pic>
        <p:nvPicPr>
          <p:cNvPr id="4" name="Picture 3">
            <a:extLst>
              <a:ext uri="{FF2B5EF4-FFF2-40B4-BE49-F238E27FC236}">
                <a16:creationId xmlns:a16="http://schemas.microsoft.com/office/drawing/2014/main" id="{7E28809A-0E8C-B036-D519-01FC94C7F345}"/>
              </a:ext>
            </a:extLst>
          </p:cNvPr>
          <p:cNvPicPr>
            <a:picLocks noChangeAspect="1"/>
          </p:cNvPicPr>
          <p:nvPr/>
        </p:nvPicPr>
        <p:blipFill>
          <a:blip r:embed="rId2"/>
          <a:stretch>
            <a:fillRect/>
          </a:stretch>
        </p:blipFill>
        <p:spPr>
          <a:xfrm>
            <a:off x="1788160" y="2495271"/>
            <a:ext cx="7520940" cy="3753128"/>
          </a:xfrm>
          <a:prstGeom prst="rect">
            <a:avLst/>
          </a:prstGeom>
        </p:spPr>
      </p:pic>
    </p:spTree>
    <p:extLst>
      <p:ext uri="{BB962C8B-B14F-4D97-AF65-F5344CB8AC3E}">
        <p14:creationId xmlns:p14="http://schemas.microsoft.com/office/powerpoint/2010/main" val="824825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0C9B-3155-9204-E852-4431BB1E277B}"/>
              </a:ext>
            </a:extLst>
          </p:cNvPr>
          <p:cNvSpPr>
            <a:spLocks noGrp="1"/>
          </p:cNvSpPr>
          <p:nvPr>
            <p:ph type="title"/>
          </p:nvPr>
        </p:nvSpPr>
        <p:spPr>
          <a:xfrm>
            <a:off x="772160" y="609600"/>
            <a:ext cx="9278674" cy="1243647"/>
          </a:xfrm>
        </p:spPr>
        <p:txBody>
          <a:bodyPr>
            <a:normAutofit/>
          </a:bodyPr>
          <a:lstStyle/>
          <a:p>
            <a:pPr indent="45720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14/08/2023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Day: Monday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Task 8: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Data Cleaning using NLP</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FF798E0-3B91-D5AC-E8C1-DF4271DA13C2}"/>
              </a:ext>
            </a:extLst>
          </p:cNvPr>
          <p:cNvSpPr>
            <a:spLocks noGrp="1"/>
          </p:cNvSpPr>
          <p:nvPr>
            <p:ph idx="1"/>
          </p:nvPr>
        </p:nvSpPr>
        <p:spPr>
          <a:xfrm>
            <a:off x="1300480" y="1513840"/>
            <a:ext cx="8749373" cy="4734559"/>
          </a:xfrm>
        </p:spPr>
        <p:txBody>
          <a:bodyPr/>
          <a:lstStyle/>
          <a:p>
            <a:pPr marL="342900" lvl="0" indent="-342900" algn="just">
              <a:buFont typeface="Symbol" panose="05050102010706020507" pitchFamily="18" charset="2"/>
              <a:buChar char=""/>
            </a:pPr>
            <a:r>
              <a:rPr lang="en-US" sz="1200" dirty="0">
                <a:effectLst/>
                <a:latin typeface="Times New Roman" panose="02020603050405020304" pitchFamily="18" charset="0"/>
                <a:ea typeface="Times New Roman" panose="02020603050405020304" pitchFamily="18" charset="0"/>
              </a:rPr>
              <a:t>Data cleaning, also known as data cleansing or data scrubbing, is the process of identifying and correcting or removing errors, inconsistencies, and inaccuracies in datasets to improve data quality and reliability. Data cleaning is a crucial step in data preprocessing, as the quality of our data can significantly impact the results of any data analysis, machine learning, or NLP tasks.</a:t>
            </a:r>
            <a:endParaRPr lang="en-IN" sz="12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200" dirty="0">
                <a:effectLst/>
                <a:latin typeface="Times New Roman" panose="02020603050405020304" pitchFamily="18" charset="0"/>
                <a:ea typeface="Times New Roman" panose="02020603050405020304" pitchFamily="18" charset="0"/>
              </a:rPr>
              <a:t>NLP (Natural Language Processing) can be used for text data cleaning.</a:t>
            </a:r>
            <a:endParaRPr lang="en-IN" sz="12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200" dirty="0">
                <a:effectLst/>
                <a:latin typeface="Times New Roman" panose="02020603050405020304" pitchFamily="18" charset="0"/>
                <a:ea typeface="Times New Roman" panose="02020603050405020304" pitchFamily="18" charset="0"/>
              </a:rPr>
              <a:t>NLP is interaction between human natural language &amp; computers</a:t>
            </a:r>
            <a:r>
              <a:rPr lang="en-IN" sz="1800" dirty="0">
                <a:latin typeface="Times New Roman" panose="02020603050405020304" pitchFamily="18" charset="0"/>
                <a:ea typeface="Times New Roman" panose="02020603050405020304" pitchFamily="18" charset="0"/>
              </a:rPr>
              <a:t>.</a:t>
            </a:r>
          </a:p>
          <a:p>
            <a:pPr marL="0" lvl="0" indent="0">
              <a:buNone/>
            </a:pPr>
            <a:r>
              <a:rPr lang="en-IN" sz="1800" dirty="0">
                <a:effectLst/>
                <a:latin typeface="Times New Roman" panose="02020603050405020304" pitchFamily="18" charset="0"/>
                <a:ea typeface="Times New Roman" panose="02020603050405020304" pitchFamily="18" charset="0"/>
              </a:rPr>
              <a:t>	</a:t>
            </a:r>
          </a:p>
          <a:p>
            <a:pPr marL="0" lvl="0" indent="0">
              <a:buNone/>
            </a:pPr>
            <a:r>
              <a:rPr lang="en-IN" sz="1200" dirty="0">
                <a:latin typeface="Times New Roman" panose="02020603050405020304" pitchFamily="18" charset="0"/>
                <a:ea typeface="Times New Roman" panose="02020603050405020304" pitchFamily="18" charset="0"/>
              </a:rPr>
              <a:t>E</a:t>
            </a:r>
            <a:r>
              <a:rPr lang="en-IN" sz="1200" dirty="0">
                <a:effectLst/>
                <a:latin typeface="Times New Roman" panose="02020603050405020304" pitchFamily="18" charset="0"/>
                <a:ea typeface="Times New Roman" panose="02020603050405020304" pitchFamily="18" charset="0"/>
              </a:rPr>
              <a:t>x:</a:t>
            </a:r>
          </a:p>
          <a:p>
            <a:pPr marL="0" lvl="0" indent="0">
              <a:buNone/>
            </a:pPr>
            <a:r>
              <a:rPr lang="en-IN" sz="1200" dirty="0">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marL="0" lvl="0" indent="0">
              <a:buNone/>
            </a:pPr>
            <a:endParaRPr lang="en-IN" sz="12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BC9B8846-5E45-59D2-1C0A-AEFF3A150808}"/>
              </a:ext>
            </a:extLst>
          </p:cNvPr>
          <p:cNvPicPr>
            <a:picLocks noChangeAspect="1"/>
          </p:cNvPicPr>
          <p:nvPr/>
        </p:nvPicPr>
        <p:blipFill>
          <a:blip r:embed="rId2"/>
          <a:stretch>
            <a:fillRect/>
          </a:stretch>
        </p:blipFill>
        <p:spPr>
          <a:xfrm>
            <a:off x="1734329" y="3881119"/>
            <a:ext cx="7881673" cy="2225040"/>
          </a:xfrm>
          <a:prstGeom prst="rect">
            <a:avLst/>
          </a:prstGeom>
        </p:spPr>
      </p:pic>
    </p:spTree>
    <p:extLst>
      <p:ext uri="{BB962C8B-B14F-4D97-AF65-F5344CB8AC3E}">
        <p14:creationId xmlns:p14="http://schemas.microsoft.com/office/powerpoint/2010/main" val="1336762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142A-0444-22FF-E958-3410EE4EF3D2}"/>
              </a:ext>
            </a:extLst>
          </p:cNvPr>
          <p:cNvSpPr>
            <a:spLocks noGrp="1"/>
          </p:cNvSpPr>
          <p:nvPr>
            <p:ph type="title"/>
          </p:nvPr>
        </p:nvSpPr>
        <p:spPr>
          <a:xfrm>
            <a:off x="353961" y="196645"/>
            <a:ext cx="9696873" cy="1656603"/>
          </a:xfrm>
        </p:spPr>
        <p:txBody>
          <a:bodyPr>
            <a:normAutofit/>
          </a:bodyPr>
          <a:lstStyle/>
          <a:p>
            <a:pPr indent="457200"/>
            <a: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t>Date: 15/08/2023</a:t>
            </a:r>
            <a:b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t>	Day: Tuesday</a:t>
            </a:r>
            <a:b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t>	Task 9: Visualization libraries in ML: Seaborn &amp; Matplolib </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DE03573-0162-EAA6-44A3-39BAB7902E37}"/>
              </a:ext>
            </a:extLst>
          </p:cNvPr>
          <p:cNvSpPr>
            <a:spLocks noGrp="1"/>
          </p:cNvSpPr>
          <p:nvPr>
            <p:ph idx="1"/>
          </p:nvPr>
        </p:nvSpPr>
        <p:spPr>
          <a:xfrm>
            <a:off x="511277" y="570271"/>
            <a:ext cx="9538577" cy="2654711"/>
          </a:xfrm>
        </p:spPr>
        <p:txBody>
          <a:bodyPr>
            <a:normAutofit/>
          </a:bodyPr>
          <a:lstStyle/>
          <a:p>
            <a:pPr indent="0">
              <a:buNone/>
            </a:pPr>
            <a:r>
              <a:rPr lang="en-IN" sz="1800" dirty="0">
                <a:solidFill>
                  <a:srgbClr val="00000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342900" lvl="0" indent="-342900" algn="just">
              <a:buFont typeface="Symbol" panose="05050102010706020507" pitchFamily="18" charset="2"/>
              <a:buChar char=""/>
            </a:pPr>
            <a:r>
              <a:rPr lang="en-US" sz="1200" dirty="0">
                <a:effectLst/>
                <a:latin typeface="Times New Roman" panose="02020603050405020304" pitchFamily="18" charset="0"/>
                <a:ea typeface="Times New Roman" panose="02020603050405020304" pitchFamily="18" charset="0"/>
              </a:rPr>
              <a:t>Seaborn and Matplotlib are popular Python libraries used for data visualization, including in machine learning (ML) tasks. These libraries help you create informative and visually appealing plots to explore your data, understand relationships between variables, and communicate your findings effectively.</a:t>
            </a:r>
            <a:endParaRPr lang="en-IN" sz="12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200" dirty="0">
                <a:effectLst/>
                <a:latin typeface="Times New Roman" panose="02020603050405020304" pitchFamily="18" charset="0"/>
                <a:ea typeface="Times New Roman" panose="02020603050405020304" pitchFamily="18" charset="0"/>
              </a:rPr>
              <a:t>Using this libraries we can create different graphs like scatterplot,pie,sub-plot,hist,boxplot,c-plot,disc-plot etc.</a:t>
            </a:r>
            <a:endParaRPr lang="en-IN" sz="1200" dirty="0">
              <a:effectLst/>
              <a:latin typeface="Times New Roman" panose="02020603050405020304" pitchFamily="18" charset="0"/>
              <a:ea typeface="Times New Roman" panose="02020603050405020304" pitchFamily="18" charset="0"/>
            </a:endParaRPr>
          </a:p>
          <a:p>
            <a:pPr marL="342900" lvl="0" indent="-342900">
              <a:buFont typeface="Symbol" panose="05050102010706020507" pitchFamily="18" charset="2"/>
              <a:buChar char=""/>
            </a:pPr>
            <a:r>
              <a:rPr lang="en-US" sz="1200" dirty="0">
                <a:effectLst/>
                <a:latin typeface="Times New Roman" panose="02020603050405020304" pitchFamily="18" charset="0"/>
                <a:ea typeface="Times New Roman" panose="02020603050405020304" pitchFamily="18" charset="0"/>
              </a:rPr>
              <a:t>We can also generate pivot-table and heatmap using seaborn.</a:t>
            </a:r>
            <a:endParaRPr lang="en-IN" sz="1200" dirty="0">
              <a:effectLst/>
              <a:latin typeface="Times New Roman" panose="02020603050405020304" pitchFamily="18" charset="0"/>
              <a:ea typeface="Times New Roman" panose="02020603050405020304" pitchFamily="18" charset="0"/>
            </a:endParaRPr>
          </a:p>
          <a:p>
            <a:pPr marL="0" indent="0">
              <a:buNone/>
            </a:pPr>
            <a:r>
              <a:rPr lang="en-IN" dirty="0"/>
              <a:t>ex:</a:t>
            </a:r>
            <a:endParaRPr lang="en-IN" sz="1200" dirty="0">
              <a:latin typeface="Times New Roman" panose="02020603050405020304" pitchFamily="18" charset="0"/>
              <a:cs typeface="Times New Roman" panose="02020603050405020304" pitchFamily="18" charset="0"/>
            </a:endParaRPr>
          </a:p>
          <a:p>
            <a:pPr marL="0" indent="0">
              <a:buNone/>
            </a:pPr>
            <a:r>
              <a:rPr lang="en-IN" dirty="0"/>
              <a:t>		</a:t>
            </a:r>
          </a:p>
        </p:txBody>
      </p:sp>
      <p:pic>
        <p:nvPicPr>
          <p:cNvPr id="4" name="Picture 3">
            <a:extLst>
              <a:ext uri="{FF2B5EF4-FFF2-40B4-BE49-F238E27FC236}">
                <a16:creationId xmlns:a16="http://schemas.microsoft.com/office/drawing/2014/main" id="{886D8B63-5BA2-B73B-8D5C-89AC4BF592E5}"/>
              </a:ext>
            </a:extLst>
          </p:cNvPr>
          <p:cNvPicPr>
            <a:picLocks noChangeAspect="1"/>
          </p:cNvPicPr>
          <p:nvPr/>
        </p:nvPicPr>
        <p:blipFill>
          <a:blip r:embed="rId2"/>
          <a:stretch>
            <a:fillRect/>
          </a:stretch>
        </p:blipFill>
        <p:spPr>
          <a:xfrm>
            <a:off x="1282120" y="2261284"/>
            <a:ext cx="7255207" cy="2165985"/>
          </a:xfrm>
          <a:prstGeom prst="rect">
            <a:avLst/>
          </a:prstGeom>
        </p:spPr>
      </p:pic>
      <p:pic>
        <p:nvPicPr>
          <p:cNvPr id="5" name="Content Placeholder 3">
            <a:extLst>
              <a:ext uri="{FF2B5EF4-FFF2-40B4-BE49-F238E27FC236}">
                <a16:creationId xmlns:a16="http://schemas.microsoft.com/office/drawing/2014/main" id="{6A28A36A-5FC6-33AA-0AE2-C8DF6587B5F1}"/>
              </a:ext>
            </a:extLst>
          </p:cNvPr>
          <p:cNvPicPr>
            <a:picLocks noChangeAspect="1"/>
          </p:cNvPicPr>
          <p:nvPr/>
        </p:nvPicPr>
        <p:blipFill>
          <a:blip r:embed="rId3"/>
          <a:stretch>
            <a:fillRect/>
          </a:stretch>
        </p:blipFill>
        <p:spPr>
          <a:xfrm>
            <a:off x="1282120" y="4427269"/>
            <a:ext cx="7256993" cy="2352073"/>
          </a:xfrm>
          <a:prstGeom prst="rect">
            <a:avLst/>
          </a:prstGeom>
        </p:spPr>
      </p:pic>
    </p:spTree>
    <p:extLst>
      <p:ext uri="{BB962C8B-B14F-4D97-AF65-F5344CB8AC3E}">
        <p14:creationId xmlns:p14="http://schemas.microsoft.com/office/powerpoint/2010/main" val="4200085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8EC2-914A-E8CD-C957-8B8907034B00}"/>
              </a:ext>
            </a:extLst>
          </p:cNvPr>
          <p:cNvSpPr>
            <a:spLocks noGrp="1"/>
          </p:cNvSpPr>
          <p:nvPr>
            <p:ph type="title"/>
          </p:nvPr>
        </p:nvSpPr>
        <p:spPr>
          <a:xfrm>
            <a:off x="782320" y="609600"/>
            <a:ext cx="9268514" cy="1243647"/>
          </a:xfrm>
        </p:spPr>
        <p:txBody>
          <a:bodyPr>
            <a:normAutofit/>
          </a:bodyPr>
          <a:lstStyle/>
          <a:p>
            <a:pPr indent="45720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18/08/2023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Day: Friday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Task 9.1: Basic types of machine learning and algorithm</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A208C3F-9C99-A4B8-DD72-F16555C377CE}"/>
              </a:ext>
            </a:extLst>
          </p:cNvPr>
          <p:cNvSpPr>
            <a:spLocks noGrp="1"/>
          </p:cNvSpPr>
          <p:nvPr>
            <p:ph idx="1"/>
          </p:nvPr>
        </p:nvSpPr>
        <p:spPr>
          <a:xfrm>
            <a:off x="1087120" y="1452880"/>
            <a:ext cx="8962733" cy="4795519"/>
          </a:xfrm>
        </p:spPr>
        <p:txBody>
          <a:bodyPr>
            <a:normAutofit fontScale="85000" lnSpcReduction="20000"/>
          </a:bodyPr>
          <a:lstStyle/>
          <a:p>
            <a:pPr marL="114300" indent="0">
              <a:buNone/>
            </a:pPr>
            <a:r>
              <a:rPr lang="en-US" sz="1200" dirty="0">
                <a:solidFill>
                  <a:schemeClr val="tx1">
                    <a:lumMod val="95000"/>
                  </a:schemeClr>
                </a:solidFill>
                <a:effectLst/>
                <a:latin typeface="Times New Roman" panose="02020603050405020304" pitchFamily="18" charset="0"/>
                <a:ea typeface="Times New Roman" panose="02020603050405020304" pitchFamily="18" charset="0"/>
              </a:rPr>
              <a:t>Machine learning can be categorized into several types based on the learning style, task, and the nature of the data.</a:t>
            </a:r>
            <a:endParaRPr lang="en-IN" sz="1200" dirty="0">
              <a:solidFill>
                <a:schemeClr val="tx1">
                  <a:lumMod val="95000"/>
                </a:schemeClr>
              </a:solidFill>
              <a:effectLst/>
              <a:latin typeface="Times New Roman" panose="02020603050405020304" pitchFamily="18" charset="0"/>
              <a:ea typeface="Times New Roman" panose="02020603050405020304" pitchFamily="18" charset="0"/>
            </a:endParaRPr>
          </a:p>
          <a:p>
            <a:pPr marL="114300" indent="0">
              <a:buNone/>
            </a:pPr>
            <a:r>
              <a:rPr lang="en-US" sz="1200" dirty="0">
                <a:solidFill>
                  <a:schemeClr val="tx1">
                    <a:lumMod val="95000"/>
                  </a:schemeClr>
                </a:solidFill>
                <a:effectLst/>
                <a:latin typeface="Times New Roman" panose="02020603050405020304" pitchFamily="18" charset="0"/>
                <a:ea typeface="Times New Roman" panose="02020603050405020304" pitchFamily="18" charset="0"/>
              </a:rPr>
              <a:t>Types of machine learning:</a:t>
            </a:r>
            <a:endParaRPr lang="en-IN" sz="1200" dirty="0">
              <a:solidFill>
                <a:schemeClr val="tx1">
                  <a:lumMod val="95000"/>
                </a:schemeClr>
              </a:solidFill>
              <a:effectLst/>
              <a:latin typeface="Times New Roman" panose="02020603050405020304" pitchFamily="18" charset="0"/>
              <a:ea typeface="Times New Roman" panose="02020603050405020304" pitchFamily="18" charset="0"/>
            </a:endParaRPr>
          </a:p>
          <a:p>
            <a:pPr lvl="1" indent="-342900">
              <a:buFont typeface="+mj-lt"/>
              <a:buAutoNum type="arabicPeriod"/>
            </a:pPr>
            <a:r>
              <a:rPr lang="en-US" sz="1200" dirty="0">
                <a:solidFill>
                  <a:schemeClr val="tx1">
                    <a:lumMod val="95000"/>
                  </a:schemeClr>
                </a:solidFill>
                <a:effectLst/>
                <a:latin typeface="Times New Roman" panose="02020603050405020304" pitchFamily="18" charset="0"/>
                <a:ea typeface="Times New Roman" panose="02020603050405020304" pitchFamily="18" charset="0"/>
              </a:rPr>
              <a:t>Supervised Learning:</a:t>
            </a:r>
            <a:endParaRPr lang="en-IN" sz="1200" dirty="0">
              <a:solidFill>
                <a:schemeClr val="tx1">
                  <a:lumMod val="95000"/>
                </a:schemeClr>
              </a:solidFill>
              <a:effectLst/>
              <a:latin typeface="Times New Roman" panose="02020603050405020304" pitchFamily="18" charset="0"/>
              <a:ea typeface="Times New Roman" panose="02020603050405020304" pitchFamily="18" charset="0"/>
            </a:endParaRPr>
          </a:p>
          <a:p>
            <a:pPr lvl="1" indent="-342900">
              <a:buFont typeface="+mj-lt"/>
              <a:buAutoNum type="arabicPeriod"/>
            </a:pPr>
            <a:r>
              <a:rPr lang="en-US" sz="1200" dirty="0">
                <a:solidFill>
                  <a:schemeClr val="tx1">
                    <a:lumMod val="95000"/>
                  </a:schemeClr>
                </a:solidFill>
                <a:effectLst/>
                <a:latin typeface="Times New Roman" panose="02020603050405020304" pitchFamily="18" charset="0"/>
                <a:ea typeface="Times New Roman" panose="02020603050405020304" pitchFamily="18" charset="0"/>
              </a:rPr>
              <a:t>Unsupervised Learning</a:t>
            </a:r>
            <a:endParaRPr lang="en-IN" sz="1200" dirty="0">
              <a:solidFill>
                <a:schemeClr val="tx1">
                  <a:lumMod val="95000"/>
                </a:schemeClr>
              </a:solidFill>
              <a:effectLst/>
              <a:latin typeface="Times New Roman" panose="02020603050405020304" pitchFamily="18" charset="0"/>
              <a:ea typeface="Times New Roman" panose="02020603050405020304" pitchFamily="18" charset="0"/>
            </a:endParaRPr>
          </a:p>
          <a:p>
            <a:pPr lvl="1" indent="-342900">
              <a:buFont typeface="+mj-lt"/>
              <a:buAutoNum type="arabicPeriod"/>
            </a:pPr>
            <a:r>
              <a:rPr lang="en-US" sz="1200" dirty="0">
                <a:solidFill>
                  <a:schemeClr val="tx1">
                    <a:lumMod val="95000"/>
                  </a:schemeClr>
                </a:solidFill>
                <a:effectLst/>
                <a:latin typeface="Times New Roman" panose="02020603050405020304" pitchFamily="18" charset="0"/>
                <a:ea typeface="Times New Roman" panose="02020603050405020304" pitchFamily="18" charset="0"/>
              </a:rPr>
              <a:t>Semi-Supervised Learning</a:t>
            </a:r>
            <a:endParaRPr lang="en-IN" sz="1200" dirty="0">
              <a:solidFill>
                <a:schemeClr val="tx1">
                  <a:lumMod val="95000"/>
                </a:schemeClr>
              </a:solidFill>
              <a:effectLst/>
              <a:latin typeface="Times New Roman" panose="02020603050405020304" pitchFamily="18" charset="0"/>
              <a:ea typeface="Times New Roman" panose="02020603050405020304" pitchFamily="18" charset="0"/>
            </a:endParaRPr>
          </a:p>
          <a:p>
            <a:pPr lvl="1" indent="-342900">
              <a:buFont typeface="+mj-lt"/>
              <a:buAutoNum type="arabicPeriod"/>
            </a:pPr>
            <a:r>
              <a:rPr lang="en-US" sz="1200" dirty="0">
                <a:solidFill>
                  <a:schemeClr val="tx1">
                    <a:lumMod val="95000"/>
                  </a:schemeClr>
                </a:solidFill>
                <a:effectLst/>
                <a:latin typeface="Times New Roman" panose="02020603050405020304" pitchFamily="18" charset="0"/>
                <a:ea typeface="Times New Roman" panose="02020603050405020304" pitchFamily="18" charset="0"/>
              </a:rPr>
              <a:t>Reinforcement Learning</a:t>
            </a:r>
            <a:endParaRPr lang="en-IN" sz="1200" dirty="0">
              <a:solidFill>
                <a:schemeClr val="tx1">
                  <a:lumMod val="95000"/>
                </a:schemeClr>
              </a:solidFill>
              <a:effectLst/>
              <a:latin typeface="Times New Roman" panose="02020603050405020304" pitchFamily="18" charset="0"/>
              <a:ea typeface="Times New Roman" panose="02020603050405020304" pitchFamily="18" charset="0"/>
            </a:endParaRPr>
          </a:p>
          <a:p>
            <a:pPr lvl="1" indent="-342900">
              <a:buFont typeface="+mj-lt"/>
              <a:buAutoNum type="arabicPeriod"/>
            </a:pPr>
            <a:r>
              <a:rPr lang="en-US" sz="1200" dirty="0">
                <a:solidFill>
                  <a:schemeClr val="tx1">
                    <a:lumMod val="95000"/>
                  </a:schemeClr>
                </a:solidFill>
                <a:effectLst/>
                <a:latin typeface="Times New Roman" panose="02020603050405020304" pitchFamily="18" charset="0"/>
                <a:ea typeface="Times New Roman" panose="02020603050405020304" pitchFamily="18" charset="0"/>
              </a:rPr>
              <a:t>Deep Learning</a:t>
            </a:r>
            <a:endParaRPr lang="en-IN" sz="1200" dirty="0">
              <a:solidFill>
                <a:schemeClr val="tx1">
                  <a:lumMod val="95000"/>
                </a:schemeClr>
              </a:solidFill>
              <a:effectLst/>
              <a:latin typeface="Times New Roman" panose="02020603050405020304" pitchFamily="18" charset="0"/>
              <a:ea typeface="Times New Roman" panose="02020603050405020304" pitchFamily="18" charset="0"/>
            </a:endParaRPr>
          </a:p>
          <a:p>
            <a:pPr marL="114300" indent="0">
              <a:buNone/>
            </a:pPr>
            <a:r>
              <a:rPr lang="en-US" sz="1800" dirty="0">
                <a:solidFill>
                  <a:srgbClr val="000000"/>
                </a:solidFill>
                <a:effectLst/>
                <a:latin typeface="Times New Roman" panose="02020603050405020304" pitchFamily="18" charset="0"/>
                <a:ea typeface="Times New Roman" panose="02020603050405020304" pitchFamily="18" charset="0"/>
              </a:rPr>
              <a:t> </a:t>
            </a:r>
            <a:r>
              <a:rPr lang="en-IN" sz="1200" dirty="0">
                <a:solidFill>
                  <a:schemeClr val="bg2">
                    <a:lumMod val="60000"/>
                    <a:lumOff val="40000"/>
                  </a:schemeClr>
                </a:solidFill>
                <a:effectLst/>
                <a:latin typeface="Times New Roman" panose="02020603050405020304" pitchFamily="18" charset="0"/>
                <a:ea typeface="Times New Roman" panose="02020603050405020304" pitchFamily="18" charset="0"/>
              </a:rPr>
              <a:t>Task 9.2: </a:t>
            </a:r>
            <a:r>
              <a:rPr lang="en-US" sz="1200" dirty="0">
                <a:solidFill>
                  <a:schemeClr val="bg2">
                    <a:lumMod val="60000"/>
                    <a:lumOff val="40000"/>
                  </a:schemeClr>
                </a:solidFill>
                <a:effectLst/>
                <a:latin typeface="Times New Roman" panose="02020603050405020304" pitchFamily="18" charset="0"/>
                <a:ea typeface="Times New Roman" panose="02020603050405020304" pitchFamily="18" charset="0"/>
              </a:rPr>
              <a:t>categories of supervised machine learning</a:t>
            </a:r>
          </a:p>
          <a:p>
            <a:pPr marL="400050" lvl="1" indent="0">
              <a:buNone/>
              <a:tabLst>
                <a:tab pos="685800" algn="l"/>
              </a:tabLst>
            </a:pPr>
            <a:r>
              <a:rPr lang="en-US" sz="1000" dirty="0">
                <a:solidFill>
                  <a:schemeClr val="tx1">
                    <a:lumMod val="95000"/>
                  </a:schemeClr>
                </a:solidFill>
                <a:latin typeface="Times New Roman" panose="02020603050405020304" pitchFamily="18" charset="0"/>
                <a:ea typeface="Times New Roman" panose="02020603050405020304" pitchFamily="18" charset="0"/>
              </a:rPr>
              <a:t>           1.	</a:t>
            </a:r>
            <a:r>
              <a:rPr lang="en-IN" sz="1100" dirty="0">
                <a:solidFill>
                  <a:schemeClr val="tx1">
                    <a:lumMod val="95000"/>
                  </a:schemeClr>
                </a:solidFill>
                <a:effectLst/>
                <a:latin typeface="Times New Roman" panose="02020603050405020304" pitchFamily="18" charset="0"/>
                <a:ea typeface="Times New Roman" panose="02020603050405020304" pitchFamily="18" charset="0"/>
              </a:rPr>
              <a:t>Logistic Regression:</a:t>
            </a:r>
          </a:p>
          <a:p>
            <a:pPr lvl="2" indent="-285750">
              <a:buSzPts val="1000"/>
              <a:buFont typeface="Symbol" panose="05050102010706020507" pitchFamily="18" charset="2"/>
              <a:buChar char=""/>
              <a:tabLst>
                <a:tab pos="1143000" algn="l"/>
              </a:tabLst>
            </a:pPr>
            <a:r>
              <a:rPr lang="en-IN" sz="1100" dirty="0">
                <a:solidFill>
                  <a:schemeClr val="tx1">
                    <a:lumMod val="95000"/>
                  </a:schemeClr>
                </a:solidFill>
                <a:effectLst/>
                <a:latin typeface="Times New Roman" panose="02020603050405020304" pitchFamily="18" charset="0"/>
                <a:ea typeface="Times New Roman" panose="02020603050405020304" pitchFamily="18" charset="0"/>
              </a:rPr>
              <a:t>Commonly used for binary and multi-class classification problems.</a:t>
            </a:r>
          </a:p>
          <a:p>
            <a:pPr lvl="2" indent="-285750">
              <a:buSzPts val="1000"/>
              <a:buFont typeface="Symbol" panose="05050102010706020507" pitchFamily="18" charset="2"/>
              <a:buChar char=""/>
              <a:tabLst>
                <a:tab pos="1143000" algn="l"/>
              </a:tabLst>
            </a:pPr>
            <a:r>
              <a:rPr lang="en-IN" sz="1100" dirty="0">
                <a:solidFill>
                  <a:schemeClr val="tx1">
                    <a:lumMod val="95000"/>
                  </a:schemeClr>
                </a:solidFill>
                <a:effectLst/>
                <a:latin typeface="Times New Roman" panose="02020603050405020304" pitchFamily="18" charset="0"/>
                <a:ea typeface="Times New Roman" panose="02020603050405020304" pitchFamily="18" charset="0"/>
              </a:rPr>
              <a:t>Models the probability of an input belonging to a specific class using a logistic function.</a:t>
            </a:r>
          </a:p>
          <a:p>
            <a:pPr marL="400050" lvl="1" indent="0">
              <a:buNone/>
              <a:tabLst>
                <a:tab pos="685800" algn="l"/>
              </a:tabLst>
            </a:pPr>
            <a:r>
              <a:rPr lang="en-IN" sz="1100" dirty="0">
                <a:solidFill>
                  <a:schemeClr val="tx1">
                    <a:lumMod val="95000"/>
                  </a:schemeClr>
                </a:solidFill>
                <a:effectLst/>
                <a:latin typeface="Times New Roman" panose="02020603050405020304" pitchFamily="18" charset="0"/>
                <a:ea typeface="Times New Roman" panose="02020603050405020304" pitchFamily="18" charset="0"/>
              </a:rPr>
              <a:t>          2.  Decision Trees:</a:t>
            </a:r>
          </a:p>
          <a:p>
            <a:pPr lvl="2" indent="-285750">
              <a:buSzPts val="1000"/>
              <a:buFont typeface="Symbol" panose="05050102010706020507" pitchFamily="18" charset="2"/>
              <a:buChar char=""/>
              <a:tabLst>
                <a:tab pos="1143000" algn="l"/>
              </a:tabLst>
            </a:pPr>
            <a:r>
              <a:rPr lang="en-IN" sz="1100" dirty="0">
                <a:solidFill>
                  <a:schemeClr val="tx1">
                    <a:lumMod val="95000"/>
                  </a:schemeClr>
                </a:solidFill>
                <a:effectLst/>
                <a:latin typeface="Times New Roman" panose="02020603050405020304" pitchFamily="18" charset="0"/>
                <a:ea typeface="Times New Roman" panose="02020603050405020304" pitchFamily="18" charset="0"/>
              </a:rPr>
              <a:t>Suitable for both binary and multi-class classification.</a:t>
            </a:r>
          </a:p>
          <a:p>
            <a:pPr lvl="2" indent="-285750">
              <a:buSzPts val="1000"/>
              <a:buFont typeface="Symbol" panose="05050102010706020507" pitchFamily="18" charset="2"/>
              <a:buChar char=""/>
              <a:tabLst>
                <a:tab pos="1143000" algn="l"/>
              </a:tabLst>
            </a:pPr>
            <a:r>
              <a:rPr lang="en-IN" sz="1100" dirty="0">
                <a:solidFill>
                  <a:schemeClr val="tx1">
                    <a:lumMod val="95000"/>
                  </a:schemeClr>
                </a:solidFill>
                <a:effectLst/>
                <a:latin typeface="Times New Roman" panose="02020603050405020304" pitchFamily="18" charset="0"/>
                <a:ea typeface="Times New Roman" panose="02020603050405020304" pitchFamily="18" charset="0"/>
              </a:rPr>
              <a:t>Divide the feature space into regions and assign a class label to each region.</a:t>
            </a:r>
          </a:p>
          <a:p>
            <a:pPr marL="0" indent="0">
              <a:buNone/>
            </a:pPr>
            <a:r>
              <a:rPr lang="en-IN" sz="1300" dirty="0">
                <a:solidFill>
                  <a:schemeClr val="tx1">
                    <a:lumMod val="95000"/>
                  </a:schemeClr>
                </a:solidFill>
                <a:effectLst/>
                <a:latin typeface="Times New Roman" panose="02020603050405020304" pitchFamily="18" charset="0"/>
                <a:ea typeface="Times New Roman" panose="02020603050405020304" pitchFamily="18" charset="0"/>
              </a:rPr>
              <a:t> </a:t>
            </a:r>
          </a:p>
          <a:p>
            <a:pPr marL="400050" lvl="1" indent="0">
              <a:buNone/>
              <a:tabLst>
                <a:tab pos="685800" algn="l"/>
              </a:tabLst>
            </a:pPr>
            <a:r>
              <a:rPr lang="en-IN" sz="1100" dirty="0">
                <a:solidFill>
                  <a:schemeClr val="tx1">
                    <a:lumMod val="95000"/>
                  </a:schemeClr>
                </a:solidFill>
                <a:effectLst/>
                <a:latin typeface="Times New Roman" panose="02020603050405020304" pitchFamily="18" charset="0"/>
                <a:ea typeface="Times New Roman" panose="02020603050405020304" pitchFamily="18" charset="0"/>
              </a:rPr>
              <a:t>         3.  Random Forest:</a:t>
            </a:r>
          </a:p>
          <a:p>
            <a:pPr lvl="2" indent="-285750">
              <a:buSzPts val="1000"/>
              <a:buFont typeface="Symbol" panose="05050102010706020507" pitchFamily="18" charset="2"/>
              <a:buChar char=""/>
              <a:tabLst>
                <a:tab pos="1143000" algn="l"/>
              </a:tabLst>
            </a:pPr>
            <a:r>
              <a:rPr lang="en-IN" sz="1100" dirty="0">
                <a:solidFill>
                  <a:schemeClr val="tx1">
                    <a:lumMod val="95000"/>
                  </a:schemeClr>
                </a:solidFill>
                <a:effectLst/>
                <a:latin typeface="Times New Roman" panose="02020603050405020304" pitchFamily="18" charset="0"/>
                <a:ea typeface="Times New Roman" panose="02020603050405020304" pitchFamily="18" charset="0"/>
              </a:rPr>
              <a:t>An ensemble of decision trees that can handle both binary and multi-class problems.</a:t>
            </a:r>
          </a:p>
          <a:p>
            <a:pPr lvl="2" indent="-285750">
              <a:buSzPts val="1000"/>
              <a:buFont typeface="Symbol" panose="05050102010706020507" pitchFamily="18" charset="2"/>
              <a:buChar char=""/>
              <a:tabLst>
                <a:tab pos="1143000" algn="l"/>
              </a:tabLst>
            </a:pPr>
            <a:r>
              <a:rPr lang="en-IN" sz="1100" dirty="0">
                <a:solidFill>
                  <a:schemeClr val="tx1">
                    <a:lumMod val="95000"/>
                  </a:schemeClr>
                </a:solidFill>
                <a:effectLst/>
                <a:latin typeface="Times New Roman" panose="02020603050405020304" pitchFamily="18" charset="0"/>
                <a:ea typeface="Times New Roman" panose="02020603050405020304" pitchFamily="18" charset="0"/>
              </a:rPr>
              <a:t>Combats overfitting and improves accuracy through aggregation.</a:t>
            </a:r>
          </a:p>
          <a:p>
            <a:pPr marL="800100" indent="0">
              <a:buNone/>
            </a:pPr>
            <a:r>
              <a:rPr lang="en-IN" sz="1200" dirty="0">
                <a:solidFill>
                  <a:srgbClr val="000000"/>
                </a:solidFill>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marL="114300" indent="0">
              <a:buNone/>
            </a:pPr>
            <a:endParaRPr lang="en-IN" sz="1200" dirty="0">
              <a:solidFill>
                <a:schemeClr val="tx1">
                  <a:lumMod val="95000"/>
                </a:schemeClr>
              </a:solidFill>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175907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74E4-0DCA-969C-7FE7-F4C15663D8A3}"/>
              </a:ext>
            </a:extLst>
          </p:cNvPr>
          <p:cNvSpPr>
            <a:spLocks noGrp="1"/>
          </p:cNvSpPr>
          <p:nvPr>
            <p:ph type="title"/>
          </p:nvPr>
        </p:nvSpPr>
        <p:spPr>
          <a:xfrm>
            <a:off x="1286643" y="752047"/>
            <a:ext cx="8763210" cy="609393"/>
          </a:xfrm>
        </p:spPr>
        <p:txBody>
          <a:bodyPr>
            <a:normAutofit fontScale="90000"/>
          </a:bodyPr>
          <a:lstStyle/>
          <a:p>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9.3: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Types of classification algorithm</a:t>
            </a:r>
            <a:br>
              <a:rPr lang="en-IN" sz="36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BF78AEA-D94F-6C6F-794F-1F23CE858772}"/>
              </a:ext>
            </a:extLst>
          </p:cNvPr>
          <p:cNvSpPr>
            <a:spLocks noGrp="1"/>
          </p:cNvSpPr>
          <p:nvPr>
            <p:ph idx="1"/>
          </p:nvPr>
        </p:nvSpPr>
        <p:spPr>
          <a:xfrm>
            <a:off x="955040" y="1361440"/>
            <a:ext cx="9094813" cy="4897119"/>
          </a:xfrm>
        </p:spPr>
        <p:txBody>
          <a:bodyPr/>
          <a:lstStyle/>
          <a:p>
            <a:pPr indent="0">
              <a:buNone/>
            </a:pPr>
            <a:r>
              <a:rPr lang="en-US" sz="1200"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lvl="1" indent="-342900">
              <a:buFont typeface="+mj-lt"/>
              <a:buAutoNum type="arabicPeriod"/>
              <a:tabLst>
                <a:tab pos="685800" algn="l"/>
              </a:tabLst>
            </a:pPr>
            <a:r>
              <a:rPr lang="en-IN" sz="1200" dirty="0">
                <a:effectLst/>
                <a:latin typeface="Times New Roman" panose="02020603050405020304" pitchFamily="18" charset="0"/>
                <a:ea typeface="Times New Roman" panose="02020603050405020304" pitchFamily="18" charset="0"/>
              </a:rPr>
              <a:t>Logistic Regression:</a:t>
            </a:r>
          </a:p>
          <a:p>
            <a:pPr lvl="2" indent="-285750">
              <a:buSzPts val="1000"/>
              <a:buFont typeface="Symbol" panose="05050102010706020507" pitchFamily="18" charset="2"/>
              <a:buChar char=""/>
              <a:tabLst>
                <a:tab pos="1143000" algn="l"/>
              </a:tabLst>
            </a:pPr>
            <a:r>
              <a:rPr lang="en-IN" sz="1200" dirty="0">
                <a:effectLst/>
                <a:latin typeface="Times New Roman" panose="02020603050405020304" pitchFamily="18" charset="0"/>
                <a:ea typeface="Times New Roman" panose="02020603050405020304" pitchFamily="18" charset="0"/>
              </a:rPr>
              <a:t>Commonly used for binary and multi-class classification problems.</a:t>
            </a:r>
          </a:p>
          <a:p>
            <a:pPr lvl="2" indent="-285750">
              <a:buSzPts val="1000"/>
              <a:buFont typeface="Symbol" panose="05050102010706020507" pitchFamily="18" charset="2"/>
              <a:buChar char=""/>
              <a:tabLst>
                <a:tab pos="1143000" algn="l"/>
              </a:tabLst>
            </a:pPr>
            <a:r>
              <a:rPr lang="en-IN" sz="1200" dirty="0">
                <a:effectLst/>
                <a:latin typeface="Times New Roman" panose="02020603050405020304" pitchFamily="18" charset="0"/>
                <a:ea typeface="Times New Roman" panose="02020603050405020304" pitchFamily="18" charset="0"/>
              </a:rPr>
              <a:t>Models the probability of an input belonging to a specific class using a logistic function.</a:t>
            </a:r>
          </a:p>
          <a:p>
            <a:pPr lvl="1" indent="-342900">
              <a:buFont typeface="+mj-lt"/>
              <a:buAutoNum type="arabicPeriod"/>
              <a:tabLst>
                <a:tab pos="685800" algn="l"/>
              </a:tabLst>
            </a:pPr>
            <a:r>
              <a:rPr lang="en-IN" sz="1200" dirty="0">
                <a:effectLst/>
                <a:latin typeface="Times New Roman" panose="02020603050405020304" pitchFamily="18" charset="0"/>
                <a:ea typeface="Times New Roman" panose="02020603050405020304" pitchFamily="18" charset="0"/>
              </a:rPr>
              <a:t>Decision Trees:</a:t>
            </a:r>
          </a:p>
          <a:p>
            <a:pPr lvl="2" indent="-285750">
              <a:buSzPts val="1000"/>
              <a:buFont typeface="Symbol" panose="05050102010706020507" pitchFamily="18" charset="2"/>
              <a:buChar char=""/>
              <a:tabLst>
                <a:tab pos="1143000" algn="l"/>
              </a:tabLst>
            </a:pPr>
            <a:r>
              <a:rPr lang="en-IN" sz="1200" dirty="0">
                <a:effectLst/>
                <a:latin typeface="Times New Roman" panose="02020603050405020304" pitchFamily="18" charset="0"/>
                <a:ea typeface="Times New Roman" panose="02020603050405020304" pitchFamily="18" charset="0"/>
              </a:rPr>
              <a:t>Suitable for both binary and multi-class classification.</a:t>
            </a:r>
          </a:p>
          <a:p>
            <a:pPr lvl="2" indent="-285750">
              <a:buSzPts val="1000"/>
              <a:buFont typeface="Symbol" panose="05050102010706020507" pitchFamily="18" charset="2"/>
              <a:buChar char=""/>
              <a:tabLst>
                <a:tab pos="1143000" algn="l"/>
              </a:tabLst>
            </a:pPr>
            <a:r>
              <a:rPr lang="en-IN" sz="1200" dirty="0">
                <a:effectLst/>
                <a:latin typeface="Times New Roman" panose="02020603050405020304" pitchFamily="18" charset="0"/>
                <a:ea typeface="Times New Roman" panose="02020603050405020304" pitchFamily="18" charset="0"/>
              </a:rPr>
              <a:t>Divide the feature space into regions and assign a class label to each region.</a:t>
            </a:r>
            <a:endParaRPr lang="en-IN" sz="1200" dirty="0">
              <a:latin typeface="Times New Roman" panose="02020603050405020304" pitchFamily="18" charset="0"/>
              <a:ea typeface="Times New Roman" panose="02020603050405020304" pitchFamily="18" charset="0"/>
            </a:endParaRPr>
          </a:p>
          <a:p>
            <a:pPr lvl="1" indent="-342900">
              <a:buFont typeface="+mj-lt"/>
              <a:buAutoNum type="arabicPeriod"/>
              <a:tabLst>
                <a:tab pos="685800" algn="l"/>
              </a:tabLst>
            </a:pPr>
            <a:r>
              <a:rPr lang="en-IN" sz="1200" dirty="0">
                <a:effectLst/>
                <a:latin typeface="Times New Roman" panose="02020603050405020304" pitchFamily="18" charset="0"/>
                <a:ea typeface="Times New Roman" panose="02020603050405020304" pitchFamily="18" charset="0"/>
              </a:rPr>
              <a:t>Random Forest:</a:t>
            </a:r>
          </a:p>
          <a:p>
            <a:pPr lvl="2" indent="-285750">
              <a:buSzPts val="1000"/>
              <a:buFont typeface="Symbol" panose="05050102010706020507" pitchFamily="18" charset="2"/>
              <a:buChar char=""/>
              <a:tabLst>
                <a:tab pos="1143000" algn="l"/>
              </a:tabLst>
            </a:pPr>
            <a:r>
              <a:rPr lang="en-IN" sz="1200" dirty="0">
                <a:effectLst/>
                <a:latin typeface="Times New Roman" panose="02020603050405020304" pitchFamily="18" charset="0"/>
                <a:ea typeface="Times New Roman" panose="02020603050405020304" pitchFamily="18" charset="0"/>
              </a:rPr>
              <a:t>An ensemble of decision trees that can handle both binary and multi-class problems.</a:t>
            </a:r>
          </a:p>
          <a:p>
            <a:pPr lvl="2" indent="-285750">
              <a:buSzPts val="1000"/>
              <a:buFont typeface="Symbol" panose="05050102010706020507" pitchFamily="18" charset="2"/>
              <a:buChar char=""/>
              <a:tabLst>
                <a:tab pos="1143000" algn="l"/>
              </a:tabLst>
            </a:pPr>
            <a:r>
              <a:rPr lang="en-IN" sz="1200" dirty="0">
                <a:effectLst/>
                <a:latin typeface="Times New Roman" panose="02020603050405020304" pitchFamily="18" charset="0"/>
                <a:ea typeface="Times New Roman" panose="02020603050405020304" pitchFamily="18" charset="0"/>
              </a:rPr>
              <a:t>Combats overfitting and improves accuracy through aggregation</a:t>
            </a:r>
            <a:r>
              <a:rPr lang="en-IN" sz="1000" dirty="0">
                <a:solidFill>
                  <a:srgbClr val="000000"/>
                </a:solidFill>
                <a:effectLst/>
                <a:latin typeface="Times New Roman" panose="02020603050405020304" pitchFamily="18" charset="0"/>
                <a:ea typeface="Times New Roman" panose="02020603050405020304" pitchFamily="18" charset="0"/>
              </a:rPr>
              <a:t>.</a:t>
            </a:r>
            <a:endParaRPr lang="en-IN" sz="1000" dirty="0">
              <a:effectLst/>
              <a:latin typeface="Times New Roman" panose="02020603050405020304" pitchFamily="18" charset="0"/>
              <a:ea typeface="Times New Roman" panose="02020603050405020304" pitchFamily="18" charset="0"/>
            </a:endParaRPr>
          </a:p>
          <a:p>
            <a:pPr marL="800100" indent="0">
              <a:buNone/>
            </a:pPr>
            <a:r>
              <a:rPr lang="en-IN" sz="1200" dirty="0">
                <a:solidFill>
                  <a:srgbClr val="000000"/>
                </a:solidFill>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marL="857250" lvl="2" indent="0">
              <a:buSzPts val="1000"/>
              <a:buNone/>
              <a:tabLst>
                <a:tab pos="1143000" algn="l"/>
              </a:tabLst>
            </a:pP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7763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5F8E2-23B3-CB3C-2C3D-E36964618C1B}"/>
              </a:ext>
            </a:extLst>
          </p:cNvPr>
          <p:cNvSpPr>
            <a:spLocks noGrp="1"/>
          </p:cNvSpPr>
          <p:nvPr>
            <p:ph type="title"/>
          </p:nvPr>
        </p:nvSpPr>
        <p:spPr>
          <a:xfrm>
            <a:off x="1595120" y="727788"/>
            <a:ext cx="7678882" cy="1202612"/>
          </a:xfrm>
        </p:spPr>
        <p:txBody>
          <a:bodyPr/>
          <a:lstStyle/>
          <a:p>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Task 9.4: </a:t>
            </a:r>
            <a:r>
              <a:rPr lang="en-US" sz="1200" dirty="0">
                <a:solidFill>
                  <a:schemeClr val="bg2">
                    <a:lumMod val="40000"/>
                    <a:lumOff val="60000"/>
                  </a:schemeClr>
                </a:solidFill>
                <a:effectLst/>
                <a:latin typeface="Times New Roman" panose="02020603050405020304" pitchFamily="18" charset="0"/>
                <a:ea typeface="Times New Roman" panose="02020603050405020304" pitchFamily="18" charset="0"/>
              </a:rPr>
              <a:t>Types of regression algorithm</a:t>
            </a:r>
            <a:br>
              <a:rPr lang="en-IN" sz="36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F23D4CF-490E-C4DE-C1B2-A8207094A99E}"/>
              </a:ext>
            </a:extLst>
          </p:cNvPr>
          <p:cNvSpPr>
            <a:spLocks noGrp="1"/>
          </p:cNvSpPr>
          <p:nvPr>
            <p:ph idx="1"/>
          </p:nvPr>
        </p:nvSpPr>
        <p:spPr>
          <a:xfrm>
            <a:off x="1330960" y="1198880"/>
            <a:ext cx="9265920" cy="5049519"/>
          </a:xfrm>
        </p:spPr>
        <p:txBody>
          <a:bodyPr/>
          <a:lstStyle/>
          <a:p>
            <a:pPr indent="0">
              <a:buNone/>
            </a:pPr>
            <a:r>
              <a:rPr lang="en-US" sz="1200" dirty="0">
                <a:effectLst/>
                <a:latin typeface="Times New Roman" panose="02020603050405020304" pitchFamily="18" charset="0"/>
                <a:ea typeface="Times New Roman" panose="02020603050405020304" pitchFamily="18" charset="0"/>
              </a:rPr>
              <a:t> </a:t>
            </a:r>
            <a:endParaRPr lang="en-IN" sz="1200" dirty="0">
              <a:latin typeface="Times New Roman" panose="02020603050405020304" pitchFamily="18" charset="0"/>
              <a:ea typeface="Times New Roman" panose="02020603050405020304" pitchFamily="18" charset="0"/>
            </a:endParaRPr>
          </a:p>
          <a:p>
            <a:pPr indent="0">
              <a:buNone/>
            </a:pPr>
            <a:r>
              <a:rPr lang="en-IN" sz="1200" dirty="0">
                <a:effectLst/>
                <a:latin typeface="Times New Roman" panose="02020603050405020304" pitchFamily="18" charset="0"/>
                <a:ea typeface="Times New Roman" panose="02020603050405020304" pitchFamily="18" charset="0"/>
              </a:rPr>
              <a:t>1.  Linear Regression:</a:t>
            </a:r>
          </a:p>
          <a:p>
            <a:pPr lvl="1" indent="-342900">
              <a:buSzPts val="1000"/>
              <a:buFont typeface="Symbol" panose="05050102010706020507" pitchFamily="18" charset="2"/>
              <a:buChar char=""/>
              <a:tabLst>
                <a:tab pos="685800" algn="l"/>
              </a:tabLst>
            </a:pPr>
            <a:r>
              <a:rPr lang="en-IN" sz="1200" dirty="0">
                <a:effectLst/>
                <a:latin typeface="Times New Roman" panose="02020603050405020304" pitchFamily="18" charset="0"/>
                <a:ea typeface="Times New Roman" panose="02020603050405020304" pitchFamily="18" charset="0"/>
              </a:rPr>
              <a:t>Used for predicting a continuous numeric value (e.g., house prices).</a:t>
            </a:r>
          </a:p>
          <a:p>
            <a:pPr lvl="1" indent="-342900">
              <a:buSzPts val="1000"/>
              <a:buFont typeface="Symbol" panose="05050102010706020507" pitchFamily="18" charset="2"/>
              <a:buChar char=""/>
              <a:tabLst>
                <a:tab pos="685800" algn="l"/>
              </a:tabLst>
            </a:pPr>
            <a:r>
              <a:rPr lang="en-IN" sz="1200" dirty="0">
                <a:effectLst/>
                <a:latin typeface="Times New Roman" panose="02020603050405020304" pitchFamily="18" charset="0"/>
                <a:ea typeface="Times New Roman" panose="02020603050405020304" pitchFamily="18" charset="0"/>
              </a:rPr>
              <a:t>Fits a linear relationship between input features and the target variable.</a:t>
            </a:r>
          </a:p>
          <a:p>
            <a:pPr indent="0">
              <a:buNone/>
            </a:pPr>
            <a:r>
              <a:rPr lang="en-IN" sz="1200" dirty="0">
                <a:effectLst/>
                <a:latin typeface="Times New Roman" panose="02020603050405020304" pitchFamily="18" charset="0"/>
                <a:ea typeface="Times New Roman" panose="02020603050405020304" pitchFamily="18" charset="0"/>
              </a:rPr>
              <a:t>2.  Decision Trees for Regression:</a:t>
            </a:r>
          </a:p>
          <a:p>
            <a:pPr lvl="1" indent="-342900">
              <a:buSzPts val="1000"/>
              <a:buFont typeface="Symbol" panose="05050102010706020507" pitchFamily="18" charset="2"/>
              <a:buChar char=""/>
              <a:tabLst>
                <a:tab pos="685800" algn="l"/>
              </a:tabLst>
            </a:pPr>
            <a:r>
              <a:rPr lang="en-IN" sz="1200" dirty="0">
                <a:effectLst/>
                <a:latin typeface="Times New Roman" panose="02020603050405020304" pitchFamily="18" charset="0"/>
                <a:ea typeface="Times New Roman" panose="02020603050405020304" pitchFamily="18" charset="0"/>
              </a:rPr>
              <a:t>Applies decision trees to predict continuous values instead of class labels.</a:t>
            </a:r>
          </a:p>
          <a:p>
            <a:pPr lvl="1" indent="-342900">
              <a:buSzPts val="1000"/>
              <a:buFont typeface="Symbol" panose="05050102010706020507" pitchFamily="18" charset="2"/>
              <a:buChar char=""/>
              <a:tabLst>
                <a:tab pos="685800" algn="l"/>
              </a:tabLst>
            </a:pPr>
            <a:r>
              <a:rPr lang="en-IN" sz="1200" dirty="0">
                <a:effectLst/>
                <a:latin typeface="Times New Roman" panose="02020603050405020304" pitchFamily="18" charset="0"/>
                <a:ea typeface="Times New Roman" panose="02020603050405020304" pitchFamily="18" charset="0"/>
              </a:rPr>
              <a:t>Divides the feature space into regions and assigns a numeric value to each region.</a:t>
            </a:r>
          </a:p>
          <a:p>
            <a:pPr marL="114300" indent="0">
              <a:buNone/>
            </a:pPr>
            <a:r>
              <a:rPr lang="en-IN" sz="1200" dirty="0">
                <a:latin typeface="Times New Roman" panose="02020603050405020304" pitchFamily="18" charset="0"/>
                <a:ea typeface="Times New Roman" panose="02020603050405020304" pitchFamily="18" charset="0"/>
              </a:rPr>
              <a:t>     </a:t>
            </a:r>
            <a:r>
              <a:rPr lang="en-IN" sz="1200" dirty="0">
                <a:effectLst/>
                <a:latin typeface="Times New Roman" panose="02020603050405020304" pitchFamily="18" charset="0"/>
                <a:ea typeface="Times New Roman" panose="02020603050405020304" pitchFamily="18" charset="0"/>
              </a:rPr>
              <a:t>3.  Random Forest for Regression:</a:t>
            </a:r>
          </a:p>
          <a:p>
            <a:pPr lvl="1" indent="-342900">
              <a:buSzPts val="1000"/>
              <a:buFont typeface="Symbol" panose="05050102010706020507" pitchFamily="18" charset="2"/>
              <a:buChar char=""/>
              <a:tabLst>
                <a:tab pos="685800" algn="l"/>
              </a:tabLst>
            </a:pPr>
            <a:r>
              <a:rPr lang="en-IN" sz="1200" dirty="0">
                <a:effectLst/>
                <a:latin typeface="Times New Roman" panose="02020603050405020304" pitchFamily="18" charset="0"/>
                <a:ea typeface="Times New Roman" panose="02020603050405020304" pitchFamily="18" charset="0"/>
              </a:rPr>
              <a:t>An ensemble of decision trees that can handle regression tasks.</a:t>
            </a:r>
          </a:p>
          <a:p>
            <a:pPr lvl="1" indent="-342900">
              <a:buSzPts val="1000"/>
              <a:buFont typeface="Symbol" panose="05050102010706020507" pitchFamily="18" charset="2"/>
              <a:buChar char=""/>
              <a:tabLst>
                <a:tab pos="685800" algn="l"/>
              </a:tabLst>
            </a:pPr>
            <a:r>
              <a:rPr lang="en-IN" sz="1200" dirty="0">
                <a:effectLst/>
                <a:latin typeface="Times New Roman" panose="02020603050405020304" pitchFamily="18" charset="0"/>
                <a:ea typeface="Times New Roman" panose="02020603050405020304" pitchFamily="18" charset="0"/>
              </a:rPr>
              <a:t>Reduces overfitting and improves accuracy through aggregation.</a:t>
            </a:r>
          </a:p>
          <a:p>
            <a:pPr marL="0" indent="0">
              <a:buNone/>
            </a:pPr>
            <a:endParaRPr lang="en-IN" dirty="0"/>
          </a:p>
        </p:txBody>
      </p:sp>
    </p:spTree>
    <p:extLst>
      <p:ext uri="{BB962C8B-B14F-4D97-AF65-F5344CB8AC3E}">
        <p14:creationId xmlns:p14="http://schemas.microsoft.com/office/powerpoint/2010/main" val="238329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659E6-12A7-9131-FC71-12436FCDD44E}"/>
              </a:ext>
            </a:extLst>
          </p:cNvPr>
          <p:cNvSpPr>
            <a:spLocks noGrp="1"/>
          </p:cNvSpPr>
          <p:nvPr>
            <p:ph type="title"/>
          </p:nvPr>
        </p:nvSpPr>
        <p:spPr>
          <a:xfrm>
            <a:off x="568961" y="822960"/>
            <a:ext cx="9827314" cy="1229958"/>
          </a:xfrm>
        </p:spPr>
        <p:txBody>
          <a:bodyPr>
            <a:normAutofit fontScale="90000"/>
          </a:bodyPr>
          <a:lstStyle/>
          <a:p>
            <a:pPr indent="457200"/>
            <a: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t>Date: 23/08/2023</a:t>
            </a:r>
            <a:b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t>	Day: Monday</a:t>
            </a:r>
            <a:b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t>	Task10: Column Transformation</a:t>
            </a:r>
            <a:b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800" dirty="0">
                <a:solidFill>
                  <a:srgbClr val="000000"/>
                </a:solidFill>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977EA6F-30A7-D231-C7F7-670875317470}"/>
              </a:ext>
            </a:extLst>
          </p:cNvPr>
          <p:cNvSpPr>
            <a:spLocks noGrp="1"/>
          </p:cNvSpPr>
          <p:nvPr>
            <p:ph idx="1"/>
          </p:nvPr>
        </p:nvSpPr>
        <p:spPr>
          <a:xfrm>
            <a:off x="1103312" y="1696720"/>
            <a:ext cx="8946541" cy="4551679"/>
          </a:xfrm>
        </p:spPr>
        <p:txBody>
          <a:bodyPr/>
          <a:lstStyle/>
          <a:p>
            <a:pPr marL="0" indent="0">
              <a:buNone/>
            </a:pPr>
            <a:r>
              <a:rPr lang="en-US" sz="1200" dirty="0">
                <a:effectLst/>
                <a:latin typeface="Times New Roman" panose="02020603050405020304" pitchFamily="18" charset="0"/>
                <a:ea typeface="Times New Roman" panose="02020603050405020304" pitchFamily="18" charset="0"/>
              </a:rPr>
              <a:t>Column transformation in machine learning refers to the process of applying various operations or transformations to the features (columns) of a dataset to prepare them for model training. These transformations can help improve the performance of machine learning models by making the data more suitable for analysis. Common column transformations include scaling, encoding categorical variables, feature extraction, and feature engineering.</a:t>
            </a:r>
          </a:p>
          <a:p>
            <a:pPr marL="114300" indent="0">
              <a:buNone/>
            </a:pPr>
            <a:r>
              <a:rPr lang="en-IN" sz="1800" dirty="0">
                <a:solidFill>
                  <a:srgbClr val="2F5496"/>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L="0" lvl="0" indent="0">
              <a:buNone/>
              <a:tabLst>
                <a:tab pos="457200" algn="l"/>
              </a:tabLst>
            </a:pPr>
            <a:r>
              <a:rPr lang="en-IN" sz="1200" b="1" dirty="0">
                <a:effectLst/>
                <a:latin typeface="Times New Roman" panose="02020603050405020304" pitchFamily="18" charset="0"/>
                <a:ea typeface="Times New Roman" panose="02020603050405020304" pitchFamily="18" charset="0"/>
              </a:rPr>
              <a:t>1.Scaling</a:t>
            </a:r>
            <a:r>
              <a:rPr lang="en-IN" sz="1200" dirty="0">
                <a:effectLst/>
                <a:latin typeface="Times New Roman" panose="02020603050405020304" pitchFamily="18" charset="0"/>
                <a:ea typeface="Times New Roman" panose="02020603050405020304" pitchFamily="18" charset="0"/>
              </a:rPr>
              <a:t>: Scaling is used to bring all numerical features to a similar scale, which is important for algorithms that are sensitive to the magnitude of features. The two most common methods are Min-Max scaling and Standardization (Z-score scaling).</a:t>
            </a:r>
          </a:p>
          <a:p>
            <a:pPr marL="742950" lvl="1" indent="-285750">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Times New Roman" panose="02020603050405020304" pitchFamily="18" charset="0"/>
              </a:rPr>
              <a:t>Min-Max Scaling: This scales the feature values to a specific range, typically between 0 and 1.</a:t>
            </a:r>
          </a:p>
          <a:p>
            <a:pPr marL="571500" indent="0">
              <a:buNone/>
            </a:pPr>
            <a:r>
              <a:rPr lang="en-IN" sz="1200" dirty="0">
                <a:effectLst/>
                <a:latin typeface="Times New Roman" panose="02020603050405020304" pitchFamily="18" charset="0"/>
                <a:ea typeface="Times New Roman" panose="02020603050405020304" pitchFamily="18" charset="0"/>
              </a:rPr>
              <a:t>	Ex: Original feature: [10, 20, 30, 40, 50] After Min-Max Scaling: [0.0, 0.25, 0.5, 0.75, 1.0]</a:t>
            </a:r>
          </a:p>
          <a:p>
            <a:pPr marL="742950" lvl="1" indent="-285750">
              <a:buSzPts val="1000"/>
              <a:buFont typeface="Symbol" panose="05050102010706020507" pitchFamily="18" charset="2"/>
              <a:buChar char=""/>
              <a:tabLst>
                <a:tab pos="914400" algn="l"/>
              </a:tabLst>
            </a:pPr>
            <a:r>
              <a:rPr lang="en-IN" sz="1200" dirty="0">
                <a:effectLst/>
                <a:latin typeface="Times New Roman" panose="02020603050405020304" pitchFamily="18" charset="0"/>
                <a:ea typeface="Times New Roman" panose="02020603050405020304" pitchFamily="18" charset="0"/>
              </a:rPr>
              <a:t>Standardization: This scales the feature values to have a mean of 0 and a standard deviation of 1.</a:t>
            </a:r>
          </a:p>
          <a:p>
            <a:pPr marL="571500" indent="0">
              <a:buNone/>
            </a:pPr>
            <a:r>
              <a:rPr lang="en-IN" sz="1200" dirty="0">
                <a:effectLst/>
                <a:latin typeface="Times New Roman" panose="02020603050405020304" pitchFamily="18" charset="0"/>
                <a:ea typeface="Times New Roman" panose="02020603050405020304" pitchFamily="18" charset="0"/>
              </a:rPr>
              <a:t>	Ex: Original feature: [10, 20, 30, 40, 50] After Standardization: [-1.414, -0.707, 0.0, 0.707, 1.414]</a:t>
            </a:r>
          </a:p>
          <a:p>
            <a:pPr marL="571500" indent="0">
              <a:buNone/>
            </a:pPr>
            <a:endParaRPr lang="en-IN" sz="1200" dirty="0">
              <a:effectLst/>
              <a:latin typeface="Times New Roman" panose="02020603050405020304" pitchFamily="18" charset="0"/>
              <a:ea typeface="Times New Roman" panose="02020603050405020304" pitchFamily="18" charset="0"/>
            </a:endParaRPr>
          </a:p>
          <a:p>
            <a:pPr marL="0" indent="0">
              <a:buNone/>
            </a:pPr>
            <a:r>
              <a:rPr lang="en-IN" sz="1200" b="1" dirty="0">
                <a:effectLst/>
                <a:latin typeface="Times New Roman" panose="02020603050405020304" pitchFamily="18" charset="0"/>
                <a:ea typeface="Times New Roman" panose="02020603050405020304" pitchFamily="18" charset="0"/>
              </a:rPr>
              <a:t>2.Encoding Categorical Variables</a:t>
            </a:r>
            <a:r>
              <a:rPr lang="en-IN" sz="1200" dirty="0">
                <a:effectLst/>
                <a:latin typeface="Times New Roman" panose="02020603050405020304" pitchFamily="18" charset="0"/>
                <a:ea typeface="Times New Roman" panose="02020603050405020304" pitchFamily="18" charset="0"/>
              </a:rPr>
              <a:t>: Categorical variables are non-numeric, and many machine learning algorithms require numeric inputs. Common techniques for encoding categorical variables include one-hot encoding and label encoding.</a:t>
            </a:r>
          </a:p>
          <a:p>
            <a:pPr marL="0" indent="0">
              <a:buNone/>
            </a:pPr>
            <a:endParaRPr lang="en-IN" sz="1200" dirty="0">
              <a:effectLst/>
              <a:latin typeface="Times New Roman" panose="02020603050405020304" pitchFamily="18" charset="0"/>
              <a:ea typeface="Times New Roman" panose="02020603050405020304" pitchFamily="18" charset="0"/>
            </a:endParaRPr>
          </a:p>
          <a:p>
            <a:pPr marL="0" indent="0">
              <a:buNone/>
            </a:pPr>
            <a:endParaRPr lang="en-IN" sz="12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795971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C5F84-29E1-0996-8686-AF5BB82FD6F4}"/>
              </a:ext>
            </a:extLst>
          </p:cNvPr>
          <p:cNvSpPr>
            <a:spLocks noGrp="1"/>
          </p:cNvSpPr>
          <p:nvPr>
            <p:ph type="title"/>
          </p:nvPr>
        </p:nvSpPr>
        <p:spPr>
          <a:xfrm>
            <a:off x="1222310" y="1278294"/>
            <a:ext cx="8051692" cy="652106"/>
          </a:xfrm>
        </p:spPr>
        <p:txBody>
          <a:bodyPr>
            <a:normAutofit fontScale="90000"/>
          </a:bodyPr>
          <a:lstStyle/>
          <a:p>
            <a:r>
              <a:rPr lang="en-IN" sz="1300" b="1" dirty="0">
                <a:solidFill>
                  <a:schemeClr val="tx1"/>
                </a:solidFill>
                <a:effectLst/>
                <a:latin typeface="Times New Roman" panose="02020603050405020304" pitchFamily="18" charset="0"/>
                <a:ea typeface="Times New Roman" panose="02020603050405020304" pitchFamily="18" charset="0"/>
              </a:rPr>
              <a:t>2.Encoding Categorical Variables</a:t>
            </a:r>
            <a:r>
              <a:rPr lang="en-IN" sz="1300" dirty="0">
                <a:solidFill>
                  <a:schemeClr val="tx1"/>
                </a:solidFill>
                <a:effectLst/>
                <a:latin typeface="Times New Roman" panose="02020603050405020304" pitchFamily="18" charset="0"/>
                <a:ea typeface="Times New Roman" panose="02020603050405020304" pitchFamily="18" charset="0"/>
              </a:rPr>
              <a:t>: Categorical variables are non-numeric, and many machine learning algorithms require numeric inputs. Common techniques for encoding categorical variables include one-hot encoding and label encoding.</a:t>
            </a:r>
            <a:br>
              <a:rPr lang="en-IN" sz="36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320C947-6356-BE82-C918-FDB401A47828}"/>
              </a:ext>
            </a:extLst>
          </p:cNvPr>
          <p:cNvSpPr>
            <a:spLocks noGrp="1"/>
          </p:cNvSpPr>
          <p:nvPr>
            <p:ph idx="1"/>
          </p:nvPr>
        </p:nvSpPr>
        <p:spPr>
          <a:xfrm>
            <a:off x="646111" y="1853248"/>
            <a:ext cx="8680769" cy="4395151"/>
          </a:xfrm>
        </p:spPr>
        <p:txBody>
          <a:bodyPr/>
          <a:lstStyle/>
          <a:p>
            <a:pPr marL="457200" lvl="1" indent="0">
              <a:buSzPts val="1000"/>
              <a:buNone/>
              <a:tabLst>
                <a:tab pos="914400" algn="l"/>
              </a:tabLst>
            </a:pPr>
            <a:endParaRPr lang="en-IN" sz="1200" dirty="0">
              <a:latin typeface="Times New Roman" panose="02020603050405020304" pitchFamily="18" charset="0"/>
              <a:ea typeface="Times New Roman" panose="02020603050405020304" pitchFamily="18" charset="0"/>
            </a:endParaRPr>
          </a:p>
          <a:p>
            <a:pPr lvl="2" indent="-285750">
              <a:buSzPts val="1000"/>
              <a:buFont typeface="Symbol" panose="05050102010706020507" pitchFamily="18" charset="2"/>
              <a:buChar char=""/>
              <a:tabLst>
                <a:tab pos="914400" algn="l"/>
              </a:tabLst>
            </a:pPr>
            <a:r>
              <a:rPr lang="en-IN" sz="1000" dirty="0">
                <a:effectLst/>
                <a:latin typeface="Times New Roman" panose="02020603050405020304" pitchFamily="18" charset="0"/>
                <a:ea typeface="Times New Roman" panose="02020603050405020304" pitchFamily="18" charset="0"/>
              </a:rPr>
              <a:t>One-Hot Encoding: This creates binary columns for each category in a categorical feature.</a:t>
            </a:r>
          </a:p>
          <a:p>
            <a:pPr marL="457200" indent="0">
              <a:buNone/>
            </a:pPr>
            <a:r>
              <a:rPr lang="en-IN" sz="1200" dirty="0">
                <a:effectLst/>
                <a:latin typeface="Times New Roman" panose="02020603050405020304" pitchFamily="18" charset="0"/>
                <a:ea typeface="Times New Roman" panose="02020603050405020304" pitchFamily="18" charset="0"/>
              </a:rPr>
              <a:t>		Ex: Original feature: ["Red", "Green", "Blue"] </a:t>
            </a:r>
          </a:p>
          <a:p>
            <a:pPr marL="914400" indent="0">
              <a:buNone/>
            </a:pPr>
            <a:r>
              <a:rPr lang="en-IN" sz="1200" dirty="0">
                <a:effectLst/>
                <a:latin typeface="Times New Roman" panose="02020603050405020304" pitchFamily="18" charset="0"/>
                <a:ea typeface="Times New Roman" panose="02020603050405020304" pitchFamily="18" charset="0"/>
              </a:rPr>
              <a:t>	After one-hot encoding: Red Green Blue 1 0 0 0 1 0 0 0 1 </a:t>
            </a:r>
          </a:p>
          <a:p>
            <a:pPr marL="914400" indent="0">
              <a:buNone/>
            </a:pPr>
            <a:endParaRPr lang="en-IN" sz="1200" dirty="0">
              <a:effectLst/>
              <a:latin typeface="Times New Roman" panose="02020603050405020304" pitchFamily="18" charset="0"/>
              <a:ea typeface="Times New Roman" panose="02020603050405020304" pitchFamily="18" charset="0"/>
            </a:endParaRPr>
          </a:p>
          <a:p>
            <a:pPr lvl="2" indent="-285750">
              <a:buSzPts val="1000"/>
              <a:buFont typeface="Symbol" panose="05050102010706020507" pitchFamily="18" charset="2"/>
              <a:buChar char=""/>
              <a:tabLst>
                <a:tab pos="914400" algn="l"/>
              </a:tabLst>
            </a:pPr>
            <a:r>
              <a:rPr lang="en-IN" sz="1000" dirty="0">
                <a:effectLst/>
                <a:latin typeface="Times New Roman" panose="02020603050405020304" pitchFamily="18" charset="0"/>
                <a:ea typeface="Times New Roman" panose="02020603050405020304" pitchFamily="18" charset="0"/>
              </a:rPr>
              <a:t>Label Encoding: This assigns a unique numeric label to each category.</a:t>
            </a:r>
          </a:p>
          <a:p>
            <a:pPr marL="571500" indent="0">
              <a:buNone/>
            </a:pPr>
            <a:r>
              <a:rPr lang="en-IN" sz="1200" dirty="0">
                <a:effectLst/>
                <a:latin typeface="Times New Roman" panose="02020603050405020304" pitchFamily="18" charset="0"/>
                <a:ea typeface="Times New Roman" panose="02020603050405020304" pitchFamily="18" charset="0"/>
              </a:rPr>
              <a:t>		Ex: Original feature: ["Red", "Green", "Blue"] </a:t>
            </a:r>
          </a:p>
          <a:p>
            <a:pPr marL="914400" indent="0">
              <a:buNone/>
            </a:pPr>
            <a:r>
              <a:rPr lang="en-IN" sz="1200" dirty="0">
                <a:effectLst/>
                <a:latin typeface="Times New Roman" panose="02020603050405020304" pitchFamily="18" charset="0"/>
                <a:ea typeface="Times New Roman" panose="02020603050405020304" pitchFamily="18" charset="0"/>
              </a:rPr>
              <a:t>	After label encoding: [0, 1, 2]</a:t>
            </a:r>
          </a:p>
          <a:p>
            <a:pPr marL="0" indent="0">
              <a:buNone/>
            </a:pPr>
            <a:endParaRPr lang="en-IN" dirty="0"/>
          </a:p>
        </p:txBody>
      </p:sp>
    </p:spTree>
    <p:extLst>
      <p:ext uri="{BB962C8B-B14F-4D97-AF65-F5344CB8AC3E}">
        <p14:creationId xmlns:p14="http://schemas.microsoft.com/office/powerpoint/2010/main" val="35688360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110CF-3832-98F7-9094-6C592CA6BAF1}"/>
              </a:ext>
            </a:extLst>
          </p:cNvPr>
          <p:cNvSpPr>
            <a:spLocks noGrp="1"/>
          </p:cNvSpPr>
          <p:nvPr>
            <p:ph type="title"/>
          </p:nvPr>
        </p:nvSpPr>
        <p:spPr>
          <a:xfrm>
            <a:off x="701040" y="690880"/>
            <a:ext cx="9349794" cy="1188720"/>
          </a:xfrm>
        </p:spPr>
        <p:txBody>
          <a:bodyPr>
            <a:normAutofit/>
          </a:bodyPr>
          <a:lstStyle/>
          <a:p>
            <a:pPr indent="457200"/>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Date: 24/08/2023</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Day: Tuesday</a:t>
            </a:r>
            <a:b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200" dirty="0">
                <a:solidFill>
                  <a:schemeClr val="bg2">
                    <a:lumMod val="40000"/>
                    <a:lumOff val="60000"/>
                  </a:schemeClr>
                </a:solidFill>
                <a:effectLst/>
                <a:latin typeface="Times New Roman" panose="02020603050405020304" pitchFamily="18" charset="0"/>
                <a:ea typeface="Times New Roman" panose="02020603050405020304" pitchFamily="18" charset="0"/>
              </a:rPr>
              <a:t>	Task11: Power Transformation Technique </a:t>
            </a:r>
            <a:br>
              <a:rPr lang="en-IN" sz="1800" dirty="0">
                <a:solidFill>
                  <a:schemeClr val="bg2">
                    <a:lumMod val="40000"/>
                    <a:lumOff val="60000"/>
                  </a:schemeClr>
                </a:solidFill>
                <a:effectLst/>
                <a:latin typeface="Times New Roman" panose="02020603050405020304" pitchFamily="18" charset="0"/>
                <a:ea typeface="Times New Roman" panose="02020603050405020304" pitchFamily="18" charset="0"/>
              </a:rPr>
            </a:br>
            <a:endParaRPr lang="en-IN" dirty="0">
              <a:solidFill>
                <a:schemeClr val="bg2">
                  <a:lumMod val="40000"/>
                  <a:lumOff val="60000"/>
                </a:schemeClr>
              </a:solidFill>
            </a:endParaRPr>
          </a:p>
        </p:txBody>
      </p:sp>
      <p:sp>
        <p:nvSpPr>
          <p:cNvPr id="3" name="Content Placeholder 2">
            <a:extLst>
              <a:ext uri="{FF2B5EF4-FFF2-40B4-BE49-F238E27FC236}">
                <a16:creationId xmlns:a16="http://schemas.microsoft.com/office/drawing/2014/main" id="{8DAF98D6-4F4B-7CD2-FD16-E7C8DDCBA4AD}"/>
              </a:ext>
            </a:extLst>
          </p:cNvPr>
          <p:cNvSpPr>
            <a:spLocks noGrp="1"/>
          </p:cNvSpPr>
          <p:nvPr>
            <p:ph idx="1"/>
          </p:nvPr>
        </p:nvSpPr>
        <p:spPr>
          <a:xfrm>
            <a:off x="1198880" y="1513840"/>
            <a:ext cx="8850973" cy="4734559"/>
          </a:xfrm>
        </p:spPr>
        <p:txBody>
          <a:bodyPr>
            <a:normAutofit fontScale="77500" lnSpcReduction="20000"/>
          </a:bodyPr>
          <a:lstStyle/>
          <a:p>
            <a:pPr marL="0" indent="0">
              <a:buNone/>
            </a:pPr>
            <a:r>
              <a:rPr lang="en-US" sz="1500" b="1" kern="0" dirty="0">
                <a:effectLst/>
                <a:latin typeface="Times New Roman" panose="02020603050405020304" pitchFamily="18" charset="0"/>
                <a:ea typeface="Times New Roman" panose="02020603050405020304" pitchFamily="18" charset="0"/>
              </a:rPr>
              <a:t>Power transformation:</a:t>
            </a:r>
            <a:br>
              <a:rPr lang="en-US" sz="1500" kern="0" dirty="0">
                <a:effectLst/>
                <a:latin typeface="Times New Roman" panose="02020603050405020304" pitchFamily="18" charset="0"/>
                <a:ea typeface="Times New Roman" panose="02020603050405020304" pitchFamily="18" charset="0"/>
              </a:rPr>
            </a:br>
            <a:r>
              <a:rPr lang="en-US" sz="1500" kern="0" dirty="0">
                <a:effectLst/>
                <a:latin typeface="Times New Roman" panose="02020603050405020304" pitchFamily="18" charset="0"/>
                <a:ea typeface="Times New Roman" panose="02020603050405020304" pitchFamily="18" charset="0"/>
              </a:rPr>
              <a:t>Power transformation is a technique used in machine learning to modify the distribution of a numerical feature, making it more closely resemble a normal or Gaussian distribution. This can be particularly useful for certain machine learning algorithms that assume the input features are normally distributed.</a:t>
            </a:r>
          </a:p>
          <a:p>
            <a:pPr marL="0" indent="0">
              <a:buNone/>
            </a:pPr>
            <a:endParaRPr lang="en-US" sz="1500" kern="0" dirty="0">
              <a:effectLst/>
              <a:latin typeface="Times New Roman" panose="02020603050405020304" pitchFamily="18" charset="0"/>
              <a:ea typeface="Times New Roman" panose="02020603050405020304" pitchFamily="18" charset="0"/>
            </a:endParaRPr>
          </a:p>
          <a:p>
            <a:pPr marL="228600" indent="0">
              <a:buNone/>
            </a:pPr>
            <a:r>
              <a:rPr lang="en-US" sz="1500" dirty="0">
                <a:effectLst/>
                <a:latin typeface="Times New Roman" panose="02020603050405020304" pitchFamily="18" charset="0"/>
                <a:ea typeface="Times New Roman" panose="02020603050405020304" pitchFamily="18" charset="0"/>
              </a:rPr>
              <a:t>Types of power transformation:</a:t>
            </a:r>
          </a:p>
          <a:p>
            <a:pPr marL="228600" indent="0">
              <a:buNone/>
            </a:pPr>
            <a:endParaRPr lang="en-IN" sz="1500" dirty="0">
              <a:effectLst/>
              <a:latin typeface="Times New Roman" panose="02020603050405020304" pitchFamily="18" charset="0"/>
              <a:ea typeface="Times New Roman" panose="02020603050405020304" pitchFamily="18" charset="0"/>
            </a:endParaRPr>
          </a:p>
          <a:p>
            <a:pPr marL="228600" indent="0">
              <a:buNone/>
            </a:pPr>
            <a:r>
              <a:rPr lang="en-US" sz="1500" dirty="0">
                <a:effectLst/>
                <a:latin typeface="Times New Roman" panose="02020603050405020304" pitchFamily="18" charset="0"/>
                <a:ea typeface="Times New Roman" panose="02020603050405020304" pitchFamily="18" charset="0"/>
              </a:rPr>
              <a:t> 	</a:t>
            </a:r>
            <a:r>
              <a:rPr lang="en-US" sz="1500" u="sng" dirty="0">
                <a:effectLst/>
                <a:latin typeface="Times New Roman" panose="02020603050405020304" pitchFamily="18" charset="0"/>
                <a:ea typeface="Times New Roman" panose="02020603050405020304" pitchFamily="18" charset="0"/>
              </a:rPr>
              <a:t>1.Square Root Transformation</a:t>
            </a:r>
            <a:r>
              <a:rPr lang="en-US" sz="1500" dirty="0">
                <a:effectLst/>
                <a:latin typeface="Times New Roman" panose="02020603050405020304" pitchFamily="18" charset="0"/>
                <a:ea typeface="Times New Roman" panose="02020603050405020304" pitchFamily="18" charset="0"/>
              </a:rPr>
              <a:t>: The square root transformation is used to reduce the skewness in a positively skewed feature 	by 	taking the square root of each data point. It is particularly effective when dealing with data where the values are 	concentrated 	towards the higher end.</a:t>
            </a:r>
            <a:endParaRPr lang="en-IN" sz="1500" dirty="0">
              <a:effectLst/>
              <a:latin typeface="Times New Roman" panose="02020603050405020304" pitchFamily="18" charset="0"/>
              <a:ea typeface="Times New Roman" panose="02020603050405020304" pitchFamily="18" charset="0"/>
            </a:endParaRPr>
          </a:p>
          <a:p>
            <a:pPr marL="571500" indent="0">
              <a:buNone/>
            </a:pPr>
            <a:r>
              <a:rPr lang="en-IN" sz="1500" dirty="0">
                <a:effectLst/>
                <a:latin typeface="Times New Roman" panose="02020603050405020304" pitchFamily="18" charset="0"/>
                <a:ea typeface="Times New Roman" panose="02020603050405020304" pitchFamily="18" charset="0"/>
              </a:rPr>
              <a:t> </a:t>
            </a:r>
          </a:p>
          <a:p>
            <a:pPr marL="571500" indent="0">
              <a:buNone/>
            </a:pPr>
            <a:r>
              <a:rPr lang="en-IN" sz="1500" dirty="0">
                <a:effectLst/>
                <a:latin typeface="Times New Roman" panose="02020603050405020304" pitchFamily="18" charset="0"/>
                <a:ea typeface="Times New Roman" panose="02020603050405020304" pitchFamily="18" charset="0"/>
              </a:rPr>
              <a:t>	Ex:</a:t>
            </a:r>
          </a:p>
          <a:p>
            <a:pPr marL="914400" indent="0">
              <a:buNone/>
            </a:pPr>
            <a:r>
              <a:rPr lang="en-IN" sz="1500" dirty="0">
                <a:effectLst/>
                <a:latin typeface="Times New Roman" panose="02020603050405020304" pitchFamily="18" charset="0"/>
                <a:ea typeface="Times New Roman" panose="02020603050405020304" pitchFamily="18" charset="0"/>
              </a:rPr>
              <a:t>	Original Income Data: </a:t>
            </a:r>
            <a:r>
              <a:rPr lang="en-IN" sz="1500" b="1" dirty="0">
                <a:effectLst/>
                <a:latin typeface="Times New Roman" panose="02020603050405020304" pitchFamily="18" charset="0"/>
                <a:ea typeface="Times New Roman" panose="02020603050405020304" pitchFamily="18" charset="0"/>
              </a:rPr>
              <a:t>[100, 150, 200, 3000, 5000, 10000]</a:t>
            </a:r>
            <a:endParaRPr lang="en-IN" sz="1500" dirty="0">
              <a:effectLst/>
              <a:latin typeface="Times New Roman" panose="02020603050405020304" pitchFamily="18" charset="0"/>
              <a:ea typeface="Times New Roman" panose="02020603050405020304" pitchFamily="18" charset="0"/>
            </a:endParaRPr>
          </a:p>
          <a:p>
            <a:pPr marL="1028700" indent="0">
              <a:buNone/>
            </a:pPr>
            <a:r>
              <a:rPr lang="en-IN" sz="1500" dirty="0">
                <a:effectLst/>
                <a:latin typeface="Times New Roman" panose="02020603050405020304" pitchFamily="18" charset="0"/>
                <a:ea typeface="Times New Roman" panose="02020603050405020304" pitchFamily="18" charset="0"/>
              </a:rPr>
              <a:t>	After Square Root Transformation: </a:t>
            </a:r>
            <a:r>
              <a:rPr lang="en-IN" sz="1500" b="1" dirty="0">
                <a:effectLst/>
                <a:latin typeface="Times New Roman" panose="02020603050405020304" pitchFamily="18" charset="0"/>
                <a:ea typeface="Times New Roman" panose="02020603050405020304" pitchFamily="18" charset="0"/>
              </a:rPr>
              <a:t>[10.00, 12.25, 14.14, 54.77, 70.71, </a:t>
            </a:r>
            <a:r>
              <a:rPr lang="en-IN" sz="1500" dirty="0">
                <a:effectLst/>
                <a:latin typeface="Times New Roman" panose="02020603050405020304" pitchFamily="18" charset="0"/>
                <a:ea typeface="Times New Roman" panose="02020603050405020304" pitchFamily="18" charset="0"/>
              </a:rPr>
              <a:t>100.00]</a:t>
            </a:r>
          </a:p>
          <a:p>
            <a:pPr marL="571500" indent="0">
              <a:buNone/>
            </a:pPr>
            <a:r>
              <a:rPr lang="en-IN" sz="1500" dirty="0">
                <a:effectLst/>
                <a:latin typeface="Times New Roman" panose="02020603050405020304" pitchFamily="18" charset="0"/>
                <a:ea typeface="Times New Roman" panose="02020603050405020304" pitchFamily="18" charset="0"/>
              </a:rPr>
              <a:t>2.</a:t>
            </a:r>
            <a:r>
              <a:rPr lang="en-US" sz="1500" u="sng" dirty="0">
                <a:effectLst/>
                <a:latin typeface="Times New Roman" panose="02020603050405020304" pitchFamily="18" charset="0"/>
                <a:ea typeface="Times New Roman" panose="02020603050405020304" pitchFamily="18" charset="0"/>
              </a:rPr>
              <a:t>Logarithmic Transformation</a:t>
            </a:r>
            <a:r>
              <a:rPr lang="en-US" sz="1500" dirty="0">
                <a:effectLst/>
                <a:latin typeface="Times New Roman" panose="02020603050405020304" pitchFamily="18" charset="0"/>
                <a:ea typeface="Times New Roman" panose="02020603050405020304" pitchFamily="18" charset="0"/>
              </a:rPr>
              <a:t>: The logarithmic transformation, specifically the natural logarithm (base e), is used to reduce the skewness in positively skewed data. It compresses large values and expands small values, making the distribution more symmetrical.</a:t>
            </a:r>
            <a:endParaRPr lang="en-IN" sz="1500" dirty="0">
              <a:effectLst/>
              <a:latin typeface="Times New Roman" panose="02020603050405020304" pitchFamily="18" charset="0"/>
              <a:ea typeface="Times New Roman" panose="02020603050405020304" pitchFamily="18" charset="0"/>
            </a:endParaRPr>
          </a:p>
          <a:p>
            <a:pPr marL="571500" indent="0">
              <a:buNone/>
            </a:pPr>
            <a:r>
              <a:rPr lang="en-US" sz="1500" dirty="0">
                <a:effectLst/>
                <a:latin typeface="Times New Roman" panose="02020603050405020304" pitchFamily="18" charset="0"/>
                <a:ea typeface="Times New Roman" panose="02020603050405020304" pitchFamily="18" charset="0"/>
              </a:rPr>
              <a:t>	Ex:</a:t>
            </a:r>
            <a:endParaRPr lang="en-IN" sz="1500" dirty="0">
              <a:effectLst/>
              <a:latin typeface="Times New Roman" panose="02020603050405020304" pitchFamily="18" charset="0"/>
              <a:ea typeface="Times New Roman" panose="02020603050405020304" pitchFamily="18" charset="0"/>
            </a:endParaRPr>
          </a:p>
          <a:p>
            <a:pPr marL="571500" indent="0">
              <a:buNone/>
            </a:pPr>
            <a:r>
              <a:rPr lang="en-US" sz="1500" dirty="0">
                <a:effectLst/>
                <a:latin typeface="Times New Roman" panose="02020603050405020304" pitchFamily="18" charset="0"/>
                <a:ea typeface="Times New Roman" panose="02020603050405020304" pitchFamily="18" charset="0"/>
              </a:rPr>
              <a:t>		</a:t>
            </a:r>
            <a:r>
              <a:rPr lang="en-IN" sz="1500" dirty="0">
                <a:effectLst/>
                <a:latin typeface="Times New Roman" panose="02020603050405020304" pitchFamily="18" charset="0"/>
                <a:ea typeface="Times New Roman" panose="02020603050405020304" pitchFamily="18" charset="0"/>
              </a:rPr>
              <a:t>Original Price Data: [10, 15, 20, 100, 500, 1000]</a:t>
            </a:r>
          </a:p>
          <a:p>
            <a:pPr marL="914400" indent="0">
              <a:buNone/>
            </a:pPr>
            <a:r>
              <a:rPr lang="en-IN" sz="1500" dirty="0">
                <a:effectLst/>
                <a:latin typeface="Times New Roman" panose="02020603050405020304" pitchFamily="18" charset="0"/>
                <a:ea typeface="Times New Roman" panose="02020603050405020304" pitchFamily="18" charset="0"/>
              </a:rPr>
              <a:t>	After Logarithmic Transformation: [2.30, 2.71, 2.99, 4.61, 6.21, 6.91]</a:t>
            </a:r>
          </a:p>
          <a:p>
            <a:pPr marL="914400"/>
            <a:endParaRPr lang="en-IN" sz="1200" dirty="0"/>
          </a:p>
        </p:txBody>
      </p:sp>
    </p:spTree>
    <p:extLst>
      <p:ext uri="{BB962C8B-B14F-4D97-AF65-F5344CB8AC3E}">
        <p14:creationId xmlns:p14="http://schemas.microsoft.com/office/powerpoint/2010/main" val="2132327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7338-0965-6825-A608-7EB89C50F557}"/>
              </a:ext>
            </a:extLst>
          </p:cNvPr>
          <p:cNvSpPr>
            <a:spLocks noGrp="1"/>
          </p:cNvSpPr>
          <p:nvPr>
            <p:ph type="title"/>
          </p:nvPr>
        </p:nvSpPr>
        <p:spPr>
          <a:xfrm>
            <a:off x="619760" y="895739"/>
            <a:ext cx="9015137" cy="957509"/>
          </a:xfrm>
        </p:spPr>
        <p:txBody>
          <a:bodyPr>
            <a:normAutofit fontScale="90000"/>
          </a:bodyPr>
          <a:lstStyle/>
          <a:p>
            <a:pPr indent="457200"/>
            <a: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t>Date: 25/08/2023</a:t>
            </a:r>
            <a:b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t>	Day: Wednesday</a:t>
            </a:r>
            <a:b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br>
            <a:r>
              <a:rPr lang="en-IN" sz="1300" dirty="0">
                <a:solidFill>
                  <a:schemeClr val="bg2">
                    <a:lumMod val="40000"/>
                    <a:lumOff val="60000"/>
                  </a:schemeClr>
                </a:solidFill>
                <a:effectLst/>
                <a:latin typeface="Times New Roman" panose="02020603050405020304" pitchFamily="18" charset="0"/>
                <a:ea typeface="Times New Roman" panose="02020603050405020304" pitchFamily="18" charset="0"/>
              </a:rPr>
              <a:t>	Task12: Feature Selection in ML</a:t>
            </a:r>
            <a:br>
              <a:rPr lang="en-IN" sz="1800" dirty="0">
                <a:effectLst/>
                <a:latin typeface="Times New Roman" panose="02020603050405020304" pitchFamily="18" charset="0"/>
                <a:ea typeface="Times New Roman" panose="02020603050405020304" pitchFamily="18" charset="0"/>
              </a:rPr>
            </a:br>
            <a:r>
              <a:rPr lang="en-IN" sz="1800" dirty="0">
                <a:solidFill>
                  <a:srgbClr val="000000"/>
                </a:solidFill>
                <a:effectLst/>
                <a:latin typeface="Times New Roman" panose="02020603050405020304" pitchFamily="18" charset="0"/>
                <a:ea typeface="Times New Roman" panose="02020603050405020304" pitchFamily="18" charset="0"/>
              </a:rPr>
              <a:t> </a:t>
            </a:r>
            <a:br>
              <a:rPr lang="en-IN" sz="18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B926E82-DED8-438E-BE8C-15C420DC9362}"/>
              </a:ext>
            </a:extLst>
          </p:cNvPr>
          <p:cNvSpPr>
            <a:spLocks noGrp="1"/>
          </p:cNvSpPr>
          <p:nvPr>
            <p:ph idx="1"/>
          </p:nvPr>
        </p:nvSpPr>
        <p:spPr>
          <a:xfrm>
            <a:off x="619760" y="1676400"/>
            <a:ext cx="9430093" cy="4571999"/>
          </a:xfrm>
        </p:spPr>
        <p:txBody>
          <a:bodyPr>
            <a:normAutofit fontScale="25000" lnSpcReduction="20000"/>
          </a:bodyPr>
          <a:lstStyle/>
          <a:p>
            <a:pPr marL="457200" lvl="1" indent="0">
              <a:buSzPts val="1000"/>
              <a:buNone/>
              <a:tabLst>
                <a:tab pos="914400" algn="l"/>
              </a:tabLst>
            </a:pPr>
            <a:r>
              <a:rPr lang="en-US" sz="4800" b="1" dirty="0">
                <a:effectLst/>
                <a:latin typeface="Times New Roman" panose="02020603050405020304" pitchFamily="18" charset="0"/>
                <a:ea typeface="Times New Roman" panose="02020603050405020304" pitchFamily="18" charset="0"/>
              </a:rPr>
              <a:t>   Feature selection:</a:t>
            </a:r>
            <a:endParaRPr lang="en-IN" sz="4800" dirty="0">
              <a:effectLst/>
              <a:latin typeface="Times New Roman" panose="02020603050405020304" pitchFamily="18" charset="0"/>
              <a:ea typeface="Times New Roman" panose="02020603050405020304" pitchFamily="18" charset="0"/>
            </a:endParaRPr>
          </a:p>
          <a:p>
            <a:pPr marL="571500" indent="0" algn="just">
              <a:buNone/>
            </a:pPr>
            <a:r>
              <a:rPr lang="en-US" sz="4800" dirty="0">
                <a:effectLst/>
                <a:latin typeface="Times New Roman" panose="02020603050405020304" pitchFamily="18" charset="0"/>
                <a:ea typeface="Times New Roman" panose="02020603050405020304" pitchFamily="18" charset="0"/>
              </a:rPr>
              <a:t>Feature selection in machine learning is the process of choosing a subset of the most relevant and informative features (variables or columns) from the original set of features in a dataset. The goal of feature selection is to improve the performance of a machine learning model by reducing dimensionality, increasing model interpretability, and potentially mitigating issues like overfitting</a:t>
            </a:r>
            <a:endParaRPr lang="en-IN" sz="4800" dirty="0">
              <a:effectLst/>
              <a:latin typeface="Times New Roman" panose="02020603050405020304" pitchFamily="18" charset="0"/>
              <a:ea typeface="Times New Roman" panose="02020603050405020304" pitchFamily="18" charset="0"/>
            </a:endParaRPr>
          </a:p>
          <a:p>
            <a:pPr marL="571500" indent="0">
              <a:buNone/>
            </a:pPr>
            <a:r>
              <a:rPr lang="en-US" sz="4800" dirty="0">
                <a:effectLst/>
                <a:latin typeface="Times New Roman" panose="02020603050405020304" pitchFamily="18" charset="0"/>
                <a:ea typeface="Times New Roman" panose="02020603050405020304" pitchFamily="18" charset="0"/>
              </a:rPr>
              <a:t> techniques for feature selection:</a:t>
            </a:r>
            <a:endParaRPr lang="en-IN" sz="4800" dirty="0">
              <a:latin typeface="Times New Roman" panose="02020603050405020304" pitchFamily="18" charset="0"/>
              <a:ea typeface="Times New Roman" panose="02020603050405020304" pitchFamily="18" charset="0"/>
            </a:endParaRPr>
          </a:p>
          <a:p>
            <a:pPr marL="457200" lvl="1" indent="0">
              <a:buSzPts val="1000"/>
              <a:buNone/>
              <a:tabLst>
                <a:tab pos="914400" algn="l"/>
              </a:tabLst>
            </a:pPr>
            <a:r>
              <a:rPr lang="en-US" sz="4800" b="1" dirty="0">
                <a:effectLst/>
                <a:latin typeface="Times New Roman" panose="02020603050405020304" pitchFamily="18" charset="0"/>
                <a:ea typeface="Times New Roman" panose="02020603050405020304" pitchFamily="18" charset="0"/>
              </a:rPr>
              <a:t>	1.Filter Methods</a:t>
            </a:r>
            <a:r>
              <a:rPr lang="en-US" sz="4800" dirty="0">
                <a:effectLst/>
                <a:latin typeface="Times New Roman" panose="02020603050405020304" pitchFamily="18" charset="0"/>
                <a:ea typeface="Times New Roman" panose="02020603050405020304" pitchFamily="18" charset="0"/>
              </a:rPr>
              <a:t>: Filter methods evaluate the relevance of each feature independently of the machine learning model. These methods 	use statistical tests or scoring functions to rank or select features.</a:t>
            </a:r>
            <a:r>
              <a:rPr lang="en-IN" sz="4800" dirty="0">
                <a:effectLst/>
                <a:latin typeface="Times New Roman" panose="02020603050405020304" pitchFamily="18" charset="0"/>
                <a:ea typeface="Times New Roman" panose="02020603050405020304" pitchFamily="18" charset="0"/>
              </a:rPr>
              <a:t> </a:t>
            </a:r>
          </a:p>
          <a:p>
            <a:pPr lvl="3" indent="-342900">
              <a:buSzPts val="1000"/>
              <a:buFont typeface="Symbol" panose="05050102010706020507" pitchFamily="18" charset="2"/>
              <a:buChar char=""/>
              <a:tabLst>
                <a:tab pos="1600200" algn="l"/>
              </a:tabLst>
            </a:pPr>
            <a:r>
              <a:rPr lang="en-IN" sz="4600" b="1" dirty="0">
                <a:effectLst/>
                <a:latin typeface="Times New Roman" panose="02020603050405020304" pitchFamily="18" charset="0"/>
                <a:ea typeface="Times New Roman" panose="02020603050405020304" pitchFamily="18" charset="0"/>
              </a:rPr>
              <a:t>Correlation Coefficient</a:t>
            </a:r>
            <a:r>
              <a:rPr lang="en-IN" sz="4600" dirty="0">
                <a:effectLst/>
                <a:latin typeface="Times New Roman" panose="02020603050405020304" pitchFamily="18" charset="0"/>
                <a:ea typeface="Times New Roman" panose="02020603050405020304" pitchFamily="18" charset="0"/>
              </a:rPr>
              <a:t>: Features that are highly correlated with the target variable are selected.</a:t>
            </a:r>
          </a:p>
          <a:p>
            <a:pPr lvl="3" indent="-342900">
              <a:buSzPts val="1000"/>
              <a:buFont typeface="Symbol" panose="05050102010706020507" pitchFamily="18" charset="2"/>
              <a:buChar char=""/>
              <a:tabLst>
                <a:tab pos="1600200" algn="l"/>
              </a:tabLst>
            </a:pPr>
            <a:r>
              <a:rPr lang="en-IN" sz="4600" b="1" dirty="0">
                <a:effectLst/>
                <a:latin typeface="Times New Roman" panose="02020603050405020304" pitchFamily="18" charset="0"/>
                <a:ea typeface="Times New Roman" panose="02020603050405020304" pitchFamily="18" charset="0"/>
              </a:rPr>
              <a:t>Chi-Squared Test</a:t>
            </a:r>
            <a:r>
              <a:rPr lang="en-IN" sz="4600" dirty="0">
                <a:effectLst/>
                <a:latin typeface="Times New Roman" panose="02020603050405020304" pitchFamily="18" charset="0"/>
                <a:ea typeface="Times New Roman" panose="02020603050405020304" pitchFamily="18" charset="0"/>
              </a:rPr>
              <a:t>: Measures the dependence between a feature and the target variable for categorical features.</a:t>
            </a:r>
          </a:p>
          <a:p>
            <a:pPr lvl="3" indent="-342900">
              <a:buSzPts val="1000"/>
              <a:buFont typeface="Symbol" panose="05050102010706020507" pitchFamily="18" charset="2"/>
              <a:buChar char=""/>
              <a:tabLst>
                <a:tab pos="1600200" algn="l"/>
              </a:tabLst>
            </a:pPr>
            <a:r>
              <a:rPr lang="en-IN" sz="4600" b="1" dirty="0">
                <a:effectLst/>
                <a:latin typeface="Times New Roman" panose="02020603050405020304" pitchFamily="18" charset="0"/>
                <a:ea typeface="Times New Roman" panose="02020603050405020304" pitchFamily="18" charset="0"/>
              </a:rPr>
              <a:t>Mutual Information</a:t>
            </a:r>
            <a:r>
              <a:rPr lang="en-IN" sz="4600" dirty="0">
                <a:effectLst/>
                <a:latin typeface="Times New Roman" panose="02020603050405020304" pitchFamily="18" charset="0"/>
                <a:ea typeface="Times New Roman" panose="02020603050405020304" pitchFamily="18" charset="0"/>
              </a:rPr>
              <a:t>: Measures the amount of information shared between a feature and the target variable.</a:t>
            </a:r>
          </a:p>
          <a:p>
            <a:pPr lvl="3" indent="-342900">
              <a:buSzPts val="1000"/>
              <a:buFont typeface="Symbol" panose="05050102010706020507" pitchFamily="18" charset="2"/>
              <a:buChar char=""/>
              <a:tabLst>
                <a:tab pos="1600200" algn="l"/>
              </a:tabLst>
            </a:pPr>
            <a:r>
              <a:rPr lang="en-IN" sz="4600" b="1" dirty="0">
                <a:effectLst/>
                <a:latin typeface="Times New Roman" panose="02020603050405020304" pitchFamily="18" charset="0"/>
                <a:ea typeface="Times New Roman" panose="02020603050405020304" pitchFamily="18" charset="0"/>
              </a:rPr>
              <a:t>ANOVA (Analysis of Variance)</a:t>
            </a:r>
            <a:r>
              <a:rPr lang="en-IN" sz="4600" dirty="0">
                <a:effectLst/>
                <a:latin typeface="Times New Roman" panose="02020603050405020304" pitchFamily="18" charset="0"/>
                <a:ea typeface="Times New Roman" panose="02020603050405020304" pitchFamily="18" charset="0"/>
              </a:rPr>
              <a:t>: Identifies significant differences between the means of groups created by the values of a categorical feature.</a:t>
            </a:r>
          </a:p>
          <a:p>
            <a:pPr marL="914400" lvl="2" indent="0" algn="just">
              <a:buNone/>
              <a:tabLst>
                <a:tab pos="1371600" algn="l"/>
              </a:tabLst>
            </a:pPr>
            <a:r>
              <a:rPr lang="en-US" sz="4800" b="1" dirty="0">
                <a:effectLst/>
                <a:latin typeface="Times New Roman" panose="02020603050405020304" pitchFamily="18" charset="0"/>
                <a:ea typeface="Times New Roman" panose="02020603050405020304" pitchFamily="18" charset="0"/>
              </a:rPr>
              <a:t>2.Wrapper Methods</a:t>
            </a:r>
            <a:r>
              <a:rPr lang="en-US" sz="4800" dirty="0">
                <a:effectLst/>
                <a:latin typeface="Times New Roman" panose="02020603050405020304" pitchFamily="18" charset="0"/>
                <a:ea typeface="Times New Roman" panose="02020603050405020304" pitchFamily="18" charset="0"/>
              </a:rPr>
              <a:t>: Wrapper methods evaluate feature subsets by training and testing machine learning models. They consider feature combinations and evaluate their impact on model performance.</a:t>
            </a:r>
            <a:endParaRPr lang="en-IN" sz="4800" dirty="0">
              <a:effectLst/>
              <a:latin typeface="Times New Roman" panose="02020603050405020304" pitchFamily="18" charset="0"/>
              <a:ea typeface="Times New Roman" panose="02020603050405020304" pitchFamily="18" charset="0"/>
            </a:endParaRPr>
          </a:p>
          <a:p>
            <a:pPr marL="1028700" indent="0">
              <a:buNone/>
            </a:pPr>
            <a:r>
              <a:rPr lang="en-IN" sz="4800" dirty="0">
                <a:effectLst/>
                <a:latin typeface="Times New Roman" panose="02020603050405020304" pitchFamily="18" charset="0"/>
                <a:ea typeface="Times New Roman" panose="02020603050405020304" pitchFamily="18" charset="0"/>
              </a:rPr>
              <a:t> </a:t>
            </a:r>
          </a:p>
          <a:p>
            <a:pPr lvl="3" indent="-342900">
              <a:buSzPts val="1000"/>
              <a:buFont typeface="Symbol" panose="05050102010706020507" pitchFamily="18" charset="2"/>
              <a:buChar char=""/>
              <a:tabLst>
                <a:tab pos="1600200" algn="l"/>
              </a:tabLst>
            </a:pPr>
            <a:r>
              <a:rPr lang="en-IN" sz="4200" b="1" dirty="0">
                <a:effectLst/>
                <a:latin typeface="Times New Roman" panose="02020603050405020304" pitchFamily="18" charset="0"/>
                <a:ea typeface="Times New Roman" panose="02020603050405020304" pitchFamily="18" charset="0"/>
              </a:rPr>
              <a:t>Forward Selection</a:t>
            </a:r>
            <a:r>
              <a:rPr lang="en-IN" sz="4200" dirty="0">
                <a:effectLst/>
                <a:latin typeface="Times New Roman" panose="02020603050405020304" pitchFamily="18" charset="0"/>
                <a:ea typeface="Times New Roman" panose="02020603050405020304" pitchFamily="18" charset="0"/>
              </a:rPr>
              <a:t>: Features are added one by one, and the model's performance is evaluated at each step.</a:t>
            </a:r>
          </a:p>
          <a:p>
            <a:pPr lvl="3" indent="-342900">
              <a:buSzPts val="1000"/>
              <a:buFont typeface="Symbol" panose="05050102010706020507" pitchFamily="18" charset="2"/>
              <a:buChar char=""/>
              <a:tabLst>
                <a:tab pos="1600200" algn="l"/>
              </a:tabLst>
            </a:pPr>
            <a:r>
              <a:rPr lang="en-IN" sz="4200" b="1" dirty="0">
                <a:effectLst/>
                <a:latin typeface="Times New Roman" panose="02020603050405020304" pitchFamily="18" charset="0"/>
                <a:ea typeface="Times New Roman" panose="02020603050405020304" pitchFamily="18" charset="0"/>
              </a:rPr>
              <a:t>Backward Elimination</a:t>
            </a:r>
            <a:r>
              <a:rPr lang="en-IN" sz="4200" dirty="0">
                <a:effectLst/>
                <a:latin typeface="Times New Roman" panose="02020603050405020304" pitchFamily="18" charset="0"/>
                <a:ea typeface="Times New Roman" panose="02020603050405020304" pitchFamily="18" charset="0"/>
              </a:rPr>
              <a:t>: Features are removed one by one, and the model's performance is evaluated at each step.</a:t>
            </a:r>
          </a:p>
          <a:p>
            <a:pPr lvl="3" indent="-342900">
              <a:buSzPts val="1000"/>
              <a:buFont typeface="Symbol" panose="05050102010706020507" pitchFamily="18" charset="2"/>
              <a:buChar char=""/>
              <a:tabLst>
                <a:tab pos="1600200" algn="l"/>
              </a:tabLst>
            </a:pPr>
            <a:r>
              <a:rPr lang="en-IN" sz="4200" b="1" dirty="0">
                <a:effectLst/>
                <a:latin typeface="Times New Roman" panose="02020603050405020304" pitchFamily="18" charset="0"/>
                <a:ea typeface="Times New Roman" panose="02020603050405020304" pitchFamily="18" charset="0"/>
              </a:rPr>
              <a:t>Recursive Feature Elimination (RFE)</a:t>
            </a:r>
            <a:r>
              <a:rPr lang="en-IN" sz="4200" dirty="0">
                <a:effectLst/>
                <a:latin typeface="Times New Roman" panose="02020603050405020304" pitchFamily="18" charset="0"/>
                <a:ea typeface="Times New Roman" panose="02020603050405020304" pitchFamily="18" charset="0"/>
              </a:rPr>
              <a:t>: Features are recursively removed based on their importance to the model.</a:t>
            </a:r>
          </a:p>
          <a:p>
            <a:pPr lvl="3" indent="-342900">
              <a:buSzPts val="1000"/>
              <a:buFont typeface="Symbol" panose="05050102010706020507" pitchFamily="18" charset="2"/>
              <a:buChar char=""/>
              <a:tabLst>
                <a:tab pos="1600200" algn="l"/>
              </a:tabLst>
            </a:pPr>
            <a:r>
              <a:rPr lang="en-IN" sz="4200" b="1" dirty="0">
                <a:effectLst/>
                <a:latin typeface="Times New Roman" panose="02020603050405020304" pitchFamily="18" charset="0"/>
                <a:ea typeface="Times New Roman" panose="02020603050405020304" pitchFamily="18" charset="0"/>
              </a:rPr>
              <a:t>Genetic Algorithms</a:t>
            </a:r>
            <a:r>
              <a:rPr lang="en-IN" sz="4200" dirty="0">
                <a:effectLst/>
                <a:latin typeface="Times New Roman" panose="02020603050405020304" pitchFamily="18" charset="0"/>
                <a:ea typeface="Times New Roman" panose="02020603050405020304" pitchFamily="18" charset="0"/>
              </a:rPr>
              <a:t>: Evolutionary algorithms are used to search for an optimal feature subset.</a:t>
            </a:r>
          </a:p>
          <a:p>
            <a:pPr marL="0" indent="0">
              <a:buNone/>
            </a:pPr>
            <a:endParaRPr lang="en-IN" dirty="0"/>
          </a:p>
        </p:txBody>
      </p:sp>
    </p:spTree>
    <p:extLst>
      <p:ext uri="{BB962C8B-B14F-4D97-AF65-F5344CB8AC3E}">
        <p14:creationId xmlns:p14="http://schemas.microsoft.com/office/powerpoint/2010/main" val="2615952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E0735-4FF7-F828-B350-9B794F58113A}"/>
              </a:ext>
            </a:extLst>
          </p:cNvPr>
          <p:cNvSpPr>
            <a:spLocks noGrp="1"/>
          </p:cNvSpPr>
          <p:nvPr>
            <p:ph type="title"/>
          </p:nvPr>
        </p:nvSpPr>
        <p:spPr>
          <a:xfrm>
            <a:off x="1875454" y="1464906"/>
            <a:ext cx="7398548" cy="465494"/>
          </a:xfrm>
        </p:spPr>
        <p:txBody>
          <a:bodyPr>
            <a:normAutofit fontScale="90000"/>
          </a:bodyPr>
          <a:lstStyle/>
          <a:p>
            <a:r>
              <a:rPr lang="en-US" sz="1200" b="1" dirty="0">
                <a:solidFill>
                  <a:schemeClr val="tx1"/>
                </a:solidFill>
                <a:effectLst/>
                <a:latin typeface="Times New Roman" panose="02020603050405020304" pitchFamily="18" charset="0"/>
                <a:ea typeface="Times New Roman" panose="02020603050405020304" pitchFamily="18" charset="0"/>
              </a:rPr>
              <a:t>3.Embedded Methods</a:t>
            </a:r>
            <a:r>
              <a:rPr lang="en-US" sz="1200" dirty="0">
                <a:solidFill>
                  <a:schemeClr val="tx1"/>
                </a:solidFill>
                <a:effectLst/>
                <a:latin typeface="Times New Roman" panose="02020603050405020304" pitchFamily="18" charset="0"/>
                <a:ea typeface="Times New Roman" panose="02020603050405020304" pitchFamily="18" charset="0"/>
              </a:rPr>
              <a:t>: Embedded methods incorporate feature selection as part of the model training process. These methods select features during the model's training based on their importance.</a:t>
            </a:r>
            <a:br>
              <a:rPr lang="en-IN" sz="1200" dirty="0">
                <a:solidFill>
                  <a:schemeClr val="tx1"/>
                </a:solidFill>
                <a:effectLst/>
                <a:latin typeface="Times New Roman" panose="02020603050405020304" pitchFamily="18" charset="0"/>
                <a:ea typeface="Times New Roman" panose="02020603050405020304" pitchFamily="18" charset="0"/>
              </a:rPr>
            </a:br>
            <a:endParaRPr lang="en-IN" sz="1200" dirty="0">
              <a:solidFill>
                <a:schemeClr val="tx1"/>
              </a:solidFill>
            </a:endParaRPr>
          </a:p>
        </p:txBody>
      </p:sp>
      <p:sp>
        <p:nvSpPr>
          <p:cNvPr id="3" name="Content Placeholder 2">
            <a:extLst>
              <a:ext uri="{FF2B5EF4-FFF2-40B4-BE49-F238E27FC236}">
                <a16:creationId xmlns:a16="http://schemas.microsoft.com/office/drawing/2014/main" id="{68266EE4-FA8C-C88E-C497-0A530C055087}"/>
              </a:ext>
            </a:extLst>
          </p:cNvPr>
          <p:cNvSpPr>
            <a:spLocks noGrp="1"/>
          </p:cNvSpPr>
          <p:nvPr>
            <p:ph idx="1"/>
          </p:nvPr>
        </p:nvSpPr>
        <p:spPr>
          <a:xfrm>
            <a:off x="975360" y="1930400"/>
            <a:ext cx="9074493" cy="4317999"/>
          </a:xfrm>
        </p:spPr>
        <p:txBody>
          <a:bodyPr>
            <a:normAutofit/>
          </a:bodyPr>
          <a:lstStyle/>
          <a:p>
            <a:pPr marL="800100" indent="0">
              <a:buNone/>
            </a:pPr>
            <a:r>
              <a:rPr lang="en-IN" sz="1200" dirty="0">
                <a:effectLst/>
                <a:latin typeface="Times New Roman" panose="02020603050405020304" pitchFamily="18" charset="0"/>
                <a:ea typeface="Times New Roman" panose="02020603050405020304" pitchFamily="18" charset="0"/>
              </a:rPr>
              <a:t> </a:t>
            </a:r>
          </a:p>
          <a:p>
            <a:pPr lvl="3" indent="-342900">
              <a:buSzPts val="1000"/>
              <a:buFont typeface="Symbol" panose="05050102010706020507" pitchFamily="18" charset="2"/>
              <a:buChar char=""/>
              <a:tabLst>
                <a:tab pos="1600200" algn="l"/>
              </a:tabLst>
            </a:pPr>
            <a:r>
              <a:rPr lang="en-IN" sz="1200" b="1" dirty="0">
                <a:effectLst/>
                <a:latin typeface="Times New Roman" panose="02020603050405020304" pitchFamily="18" charset="0"/>
                <a:ea typeface="Times New Roman" panose="02020603050405020304" pitchFamily="18" charset="0"/>
              </a:rPr>
              <a:t>Lasso Regression</a:t>
            </a:r>
            <a:r>
              <a:rPr lang="en-IN" sz="1200" dirty="0">
                <a:effectLst/>
                <a:latin typeface="Times New Roman" panose="02020603050405020304" pitchFamily="18" charset="0"/>
                <a:ea typeface="Times New Roman" panose="02020603050405020304" pitchFamily="18" charset="0"/>
              </a:rPr>
              <a:t>: Applies L1 regularization, which encourages some feature coefficients to be exactly zero, effectively selecting features.</a:t>
            </a:r>
          </a:p>
          <a:p>
            <a:pPr lvl="3" indent="-342900">
              <a:buSzPts val="1000"/>
              <a:buFont typeface="Symbol" panose="05050102010706020507" pitchFamily="18" charset="2"/>
              <a:buChar char=""/>
              <a:tabLst>
                <a:tab pos="1600200" algn="l"/>
              </a:tabLst>
            </a:pPr>
            <a:r>
              <a:rPr lang="en-IN" sz="1200" b="1" dirty="0">
                <a:effectLst/>
                <a:latin typeface="Times New Roman" panose="02020603050405020304" pitchFamily="18" charset="0"/>
                <a:ea typeface="Times New Roman" panose="02020603050405020304" pitchFamily="18" charset="0"/>
              </a:rPr>
              <a:t>Decision Trees and Random Forests</a:t>
            </a:r>
            <a:r>
              <a:rPr lang="en-IN" sz="1200" dirty="0">
                <a:effectLst/>
                <a:latin typeface="Times New Roman" panose="02020603050405020304" pitchFamily="18" charset="0"/>
                <a:ea typeface="Times New Roman" panose="02020603050405020304" pitchFamily="18" charset="0"/>
              </a:rPr>
              <a:t>: These models can provide feature importances, and you can select features based on their importance scores.</a:t>
            </a:r>
          </a:p>
          <a:p>
            <a:pPr lvl="3" indent="-342900">
              <a:buSzPts val="1000"/>
              <a:buFont typeface="Symbol" panose="05050102010706020507" pitchFamily="18" charset="2"/>
              <a:buChar char=""/>
              <a:tabLst>
                <a:tab pos="1600200" algn="l"/>
              </a:tabLst>
            </a:pPr>
            <a:r>
              <a:rPr lang="en-IN" sz="1200" b="1" dirty="0">
                <a:effectLst/>
                <a:latin typeface="Times New Roman" panose="02020603050405020304" pitchFamily="18" charset="0"/>
                <a:ea typeface="Times New Roman" panose="02020603050405020304" pitchFamily="18" charset="0"/>
              </a:rPr>
              <a:t>Regularized Linear Models</a:t>
            </a:r>
            <a:r>
              <a:rPr lang="en-IN" sz="1200" dirty="0">
                <a:effectLst/>
                <a:latin typeface="Times New Roman" panose="02020603050405020304" pitchFamily="18" charset="0"/>
                <a:ea typeface="Times New Roman" panose="02020603050405020304" pitchFamily="18" charset="0"/>
              </a:rPr>
              <a:t>: Models like Ridge and Elastic Net include feature selection as part of their optimization process.</a:t>
            </a:r>
          </a:p>
          <a:p>
            <a:pPr marL="1028700" indent="0">
              <a:buNone/>
            </a:pPr>
            <a:r>
              <a:rPr lang="en-US" sz="1200"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a:p>
            <a:pPr marL="914400" lvl="2" indent="0" algn="just">
              <a:buNone/>
              <a:tabLst>
                <a:tab pos="1371600" algn="l"/>
              </a:tabLst>
            </a:pPr>
            <a:r>
              <a:rPr lang="en-US" sz="1200" b="1" dirty="0">
                <a:effectLst/>
                <a:latin typeface="Times New Roman" panose="02020603050405020304" pitchFamily="18" charset="0"/>
                <a:ea typeface="Times New Roman" panose="02020603050405020304" pitchFamily="18" charset="0"/>
              </a:rPr>
              <a:t>4.Dimensionality Reduction Techniques</a:t>
            </a:r>
            <a:r>
              <a:rPr lang="en-US" sz="1200" dirty="0">
                <a:effectLst/>
                <a:latin typeface="Times New Roman" panose="02020603050405020304" pitchFamily="18" charset="0"/>
                <a:ea typeface="Times New Roman" panose="02020603050405020304" pitchFamily="18" charset="0"/>
              </a:rPr>
              <a:t>: Dimensionality reduction methods like Principal Component Analysis (PCA) and Singular Value Decomposition (SVD) reduce the number of features by transforming the original features into a lower-dimensional space. While they don't select specific features, they can be used as a form of feature selection when the focus is on reducing dimensionality.</a:t>
            </a:r>
            <a:endParaRPr lang="en-IN" sz="1200" dirty="0">
              <a:effectLst/>
              <a:latin typeface="Times New Roman" panose="02020603050405020304" pitchFamily="18" charset="0"/>
              <a:ea typeface="Times New Roman" panose="02020603050405020304" pitchFamily="18" charset="0"/>
            </a:endParaRPr>
          </a:p>
          <a:p>
            <a:pPr marL="114300" indent="0">
              <a:buNone/>
            </a:pPr>
            <a:endParaRPr lang="en-IN" sz="1200" dirty="0">
              <a:effectLst/>
              <a:latin typeface="Times New Roman" panose="02020603050405020304" pitchFamily="18" charset="0"/>
              <a:ea typeface="Times New Roman" panose="02020603050405020304" pitchFamily="18" charset="0"/>
            </a:endParaRPr>
          </a:p>
          <a:p>
            <a:pPr marL="914400" lvl="2" indent="0">
              <a:buNone/>
              <a:tabLst>
                <a:tab pos="1371600" algn="l"/>
              </a:tabLst>
            </a:pPr>
            <a:r>
              <a:rPr lang="en-US" sz="1200" b="1" dirty="0">
                <a:effectLst/>
                <a:latin typeface="Times New Roman" panose="02020603050405020304" pitchFamily="18" charset="0"/>
                <a:ea typeface="Times New Roman" panose="02020603050405020304" pitchFamily="18" charset="0"/>
              </a:rPr>
              <a:t>5.Feature Importance Scores</a:t>
            </a:r>
            <a:r>
              <a:rPr lang="en-US" sz="1200" dirty="0">
                <a:effectLst/>
                <a:latin typeface="Times New Roman" panose="02020603050405020304" pitchFamily="18" charset="0"/>
                <a:ea typeface="Times New Roman" panose="02020603050405020304" pitchFamily="18" charset="0"/>
              </a:rPr>
              <a:t>: Some machine learning models, such as Random Forests and Gradient Boosting Machines, provide feature importance scores.</a:t>
            </a:r>
            <a:endParaRPr lang="en-IN" sz="12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2864175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00CA8-8A58-74A9-A639-D17FA6738764}"/>
              </a:ext>
            </a:extLst>
          </p:cNvPr>
          <p:cNvSpPr>
            <a:spLocks noGrp="1"/>
          </p:cNvSpPr>
          <p:nvPr>
            <p:ph type="title"/>
          </p:nvPr>
        </p:nvSpPr>
        <p:spPr>
          <a:xfrm>
            <a:off x="645130" y="2052734"/>
            <a:ext cx="8628872" cy="354563"/>
          </a:xfrm>
        </p:spPr>
        <p:txBody>
          <a:bodyPr>
            <a:normAutofit fontScale="90000"/>
          </a:bodyPr>
          <a:lstStyle/>
          <a:p>
            <a:br>
              <a:rPr lang="en-IN" sz="3600"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0834A24D-F089-3E41-8D7C-996DD8EED264}"/>
              </a:ext>
            </a:extLst>
          </p:cNvPr>
          <p:cNvSpPr>
            <a:spLocks noGrp="1"/>
          </p:cNvSpPr>
          <p:nvPr>
            <p:ph idx="1"/>
          </p:nvPr>
        </p:nvSpPr>
        <p:spPr>
          <a:xfrm>
            <a:off x="737117" y="2052733"/>
            <a:ext cx="9312736" cy="354563"/>
          </a:xfrm>
        </p:spPr>
        <p:txBody>
          <a:bodyPr>
            <a:normAutofit lnSpcReduction="10000"/>
          </a:bodyPr>
          <a:lstStyle/>
          <a:p>
            <a:pPr marL="114300" indent="0">
              <a:buNone/>
            </a:pPr>
            <a:r>
              <a:rPr lang="en-US" sz="1800" dirty="0">
                <a:effectLst/>
                <a:latin typeface="Times New Roman" panose="02020603050405020304" pitchFamily="18" charset="0"/>
                <a:ea typeface="Times New Roman" panose="02020603050405020304" pitchFamily="18" charset="0"/>
              </a:rPr>
              <a:t> </a:t>
            </a:r>
            <a:endParaRPr lang="en-IN" dirty="0">
              <a:solidFill>
                <a:schemeClr val="bg2">
                  <a:lumMod val="60000"/>
                  <a:lumOff val="40000"/>
                </a:schemeClr>
              </a:solidFill>
            </a:endParaRPr>
          </a:p>
        </p:txBody>
      </p:sp>
      <p:sp>
        <p:nvSpPr>
          <p:cNvPr id="4" name="TextBox 3">
            <a:extLst>
              <a:ext uri="{FF2B5EF4-FFF2-40B4-BE49-F238E27FC236}">
                <a16:creationId xmlns:a16="http://schemas.microsoft.com/office/drawing/2014/main" id="{E292F8A4-B45B-3956-4EFD-8D71B49AE4AD}"/>
              </a:ext>
            </a:extLst>
          </p:cNvPr>
          <p:cNvSpPr txBox="1"/>
          <p:nvPr/>
        </p:nvSpPr>
        <p:spPr>
          <a:xfrm flipH="1">
            <a:off x="737117" y="2799184"/>
            <a:ext cx="8425543" cy="646331"/>
          </a:xfrm>
          <a:prstGeom prst="rect">
            <a:avLst/>
          </a:prstGeom>
          <a:noFill/>
        </p:spPr>
        <p:txBody>
          <a:bodyPr wrap="square" rtlCol="0">
            <a:spAutoFit/>
          </a:bodyPr>
          <a:lstStyle/>
          <a:p>
            <a:pPr marL="228600"/>
            <a:r>
              <a:rPr lang="en-US" sz="1200" dirty="0">
                <a:effectLst/>
                <a:latin typeface="Times New Roman" panose="02020603050405020304" pitchFamily="18" charset="0"/>
                <a:ea typeface="Times New Roman" panose="02020603050405020304" pitchFamily="18" charset="0"/>
              </a:rPr>
              <a:t>In conclusion, my internship experience in the field of data science and machine learning has been incredibly enriching and impactful. Through hands-on projects, collaboration with experts, and exposure to real-world datasets, I have gained a comprehensive understanding of the intricacies of these fields.</a:t>
            </a:r>
            <a:endParaRPr lang="en-IN" sz="1200" dirty="0">
              <a:effectLst/>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id="{CB254859-A924-D7B4-34B1-1AE482BA07A0}"/>
              </a:ext>
            </a:extLst>
          </p:cNvPr>
          <p:cNvSpPr/>
          <p:nvPr/>
        </p:nvSpPr>
        <p:spPr>
          <a:xfrm>
            <a:off x="-65315" y="2052733"/>
            <a:ext cx="3420079" cy="400110"/>
          </a:xfrm>
          <a:prstGeom prst="rect">
            <a:avLst/>
          </a:prstGeom>
          <a:noFill/>
        </p:spPr>
        <p:txBody>
          <a:bodyPr wrap="square" lIns="91440" tIns="45720" rIns="91440" bIns="45720">
            <a:spAutoFit/>
          </a:bodyPr>
          <a:lstStyle/>
          <a:p>
            <a:pPr algn="ctr"/>
            <a:r>
              <a:rPr lang="en-US" sz="2000" b="0" cap="none" spc="0" dirty="0">
                <a:ln w="0"/>
                <a:solidFill>
                  <a:schemeClr val="bg2">
                    <a:lumMod val="40000"/>
                    <a:lumOff val="60000"/>
                  </a:schemeClr>
                </a:solidFill>
                <a:effectLst>
                  <a:reflection blurRad="6350" stA="53000" endA="300" endPos="35500" dir="5400000" sy="-90000" algn="bl" rotWithShape="0"/>
                </a:effectLst>
                <a:latin typeface="Times New Roman" panose="02020603050405020304" pitchFamily="18" charset="0"/>
                <a:ea typeface="Times New Roman" panose="02020603050405020304" pitchFamily="18" charset="0"/>
              </a:rPr>
              <a:t>Conclusion:</a:t>
            </a:r>
            <a:endParaRPr lang="en-IN" sz="2000" b="0" cap="none" spc="0" dirty="0">
              <a:ln w="0"/>
              <a:solidFill>
                <a:schemeClr val="bg2">
                  <a:lumMod val="40000"/>
                  <a:lumOff val="60000"/>
                </a:schemeClr>
              </a:solidFill>
              <a:effectLst>
                <a:reflection blurRad="6350" stA="53000" endA="300" endPos="35500" dir="5400000" sy="-90000" algn="bl" rotWithShape="0"/>
              </a:effectLst>
            </a:endParaRPr>
          </a:p>
        </p:txBody>
      </p:sp>
    </p:spTree>
    <p:extLst>
      <p:ext uri="{BB962C8B-B14F-4D97-AF65-F5344CB8AC3E}">
        <p14:creationId xmlns:p14="http://schemas.microsoft.com/office/powerpoint/2010/main" val="3758634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1E0D-E872-3620-157A-DEF7B9460847}"/>
              </a:ext>
            </a:extLst>
          </p:cNvPr>
          <p:cNvSpPr>
            <a:spLocks noGrp="1"/>
          </p:cNvSpPr>
          <p:nvPr>
            <p:ph type="title"/>
          </p:nvPr>
        </p:nvSpPr>
        <p:spPr>
          <a:xfrm>
            <a:off x="3598606" y="3038168"/>
            <a:ext cx="8693900" cy="1448619"/>
          </a:xfrm>
        </p:spPr>
        <p:txBody>
          <a:bodyPr/>
          <a:lstStyle/>
          <a:p>
            <a:r>
              <a:rPr lang="en-US" sz="3600" dirty="0">
                <a:ln w="0"/>
                <a:solidFill>
                  <a:schemeClr val="bg2">
                    <a:lumMod val="40000"/>
                    <a:lumOff val="60000"/>
                  </a:schemeClr>
                </a:solidFill>
                <a:effectLst>
                  <a:reflection blurRad="6350" stA="53000" endA="300" endPos="35500" dir="5400000" sy="-90000" algn="bl" rotWithShape="0"/>
                </a:effectLst>
              </a:rPr>
              <a:t>T</a:t>
            </a:r>
            <a:r>
              <a:rPr lang="en-US" sz="3600" b="0" cap="none" spc="0" dirty="0">
                <a:ln w="0"/>
                <a:solidFill>
                  <a:schemeClr val="bg2">
                    <a:lumMod val="40000"/>
                    <a:lumOff val="60000"/>
                  </a:schemeClr>
                </a:solidFill>
                <a:effectLst>
                  <a:reflection blurRad="6350" stA="53000" endA="300" endPos="35500" dir="5400000" sy="-90000" algn="bl" rotWithShape="0"/>
                </a:effectLst>
              </a:rPr>
              <a:t>hank You</a:t>
            </a:r>
            <a:br>
              <a:rPr lang="en-US" sz="3600" b="0" cap="none" spc="0" dirty="0">
                <a:ln w="0"/>
                <a:solidFill>
                  <a:schemeClr val="bg2">
                    <a:lumMod val="40000"/>
                    <a:lumOff val="60000"/>
                  </a:schemeClr>
                </a:solidFill>
                <a:effectLst>
                  <a:reflection blurRad="6350" stA="53000" endA="300" endPos="35500" dir="5400000" sy="-90000" algn="bl" rotWithShape="0"/>
                </a:effectLst>
              </a:rPr>
            </a:br>
            <a:endParaRPr lang="en-IN" dirty="0"/>
          </a:p>
        </p:txBody>
      </p:sp>
    </p:spTree>
    <p:extLst>
      <p:ext uri="{BB962C8B-B14F-4D97-AF65-F5344CB8AC3E}">
        <p14:creationId xmlns:p14="http://schemas.microsoft.com/office/powerpoint/2010/main" val="296010460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293</TotalTime>
  <Words>3882</Words>
  <Application>Microsoft Office PowerPoint</Application>
  <PresentationFormat>Widescreen</PresentationFormat>
  <Paragraphs>273</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Symbol</vt:lpstr>
      <vt:lpstr>Times New Roman</vt:lpstr>
      <vt:lpstr>Trebuchet MS</vt:lpstr>
      <vt:lpstr>Wingdings 3</vt:lpstr>
      <vt:lpstr>Facet</vt:lpstr>
      <vt:lpstr>PowerPoint Presentation</vt:lpstr>
      <vt:lpstr>PowerPoint Presentation</vt:lpstr>
      <vt:lpstr>Daily Tasks and Activities </vt:lpstr>
      <vt:lpstr>Date: 28/07/2023  Day: Friday  Task2: Introduction to python libraries   </vt:lpstr>
      <vt:lpstr>2.NumPy (Numerical Python):    NumPy is a fundamental package for scientific computing in Python. It provides support for arrays, which are more efficient and  convenient  than Python's built-in lists for numerical operations. NumPy also offers a wide range of mathematical functions to  operate on these arrays.    </vt:lpstr>
      <vt:lpstr>3.Matplotlib:  Matplotlib is a widely used library for creating visualizations in Python. It provides a variety of plotting functions to create line plots, bar charts, scatter plots, histograms, and more. </vt:lpstr>
      <vt:lpstr>Date: 31/07/2023  Day: Monday  Task 3.1: To Create a dataset with 10 rows and 4 columns, where one of the columns must be a salary column. </vt:lpstr>
      <vt:lpstr>Task 3.2: Calculate the total revenue generated   </vt:lpstr>
      <vt:lpstr>Date: 01/08/2023  Day: Tuesday  Task 4: Create data using random library   </vt:lpstr>
      <vt:lpstr>Date: 02/08/2023  Day: Wednesday  Task 4.1: generating random number using numpy </vt:lpstr>
      <vt:lpstr>Task 4.2: generate array and slicing numpy array </vt:lpstr>
      <vt:lpstr> Task 4.2: concatenating two numpy array    1.Using np.concatenate() function  </vt:lpstr>
      <vt:lpstr>Task 4.3: sorting a numpy array</vt:lpstr>
      <vt:lpstr>Date: 03/08/2023  Day: Thursday  Task 5: basic of loc and iloc method </vt:lpstr>
      <vt:lpstr>Date: 04/08/2023  Day: Friday  Task 5: fillna() function in pandas  </vt:lpstr>
      <vt:lpstr>Date: 07/08/2023 Day: Monday Task 5.1: Introduction to Kaggle </vt:lpstr>
      <vt:lpstr>Date: 08/08/2023  Day: Tuesday  Task 6.1: Simple imputer </vt:lpstr>
      <vt:lpstr>Task 6.2: pandas profiling   "pandas-profiling" is a popular library used to create an exploratory data analysis report for a Pandas DataFrame  This report includes various    statistics, visualizations, and insights about the data, which can be incredibly helpful during the initial stages of data analysis.         </vt:lpstr>
      <vt:lpstr>Date: 09/08/2023  Day: Wednesday  Task 7: fit_transform method  </vt:lpstr>
      <vt:lpstr>Date: 10/08/2023  Day: Thursday  Task 7: Data transformation: Standardization and normalization   </vt:lpstr>
      <vt:lpstr>      Ex:</vt:lpstr>
      <vt:lpstr>2.normalization: </vt:lpstr>
      <vt:lpstr>Ex:</vt:lpstr>
      <vt:lpstr>Date: 11/08/2023  Day: Friday  Task 8: label encoding in python  </vt:lpstr>
      <vt:lpstr>Date: 14/08/2023  Day: Monday  Task 8: Data Cleaning using NLP </vt:lpstr>
      <vt:lpstr>Date: 15/08/2023  Day: Tuesday  Task 9: Visualization libraries in ML: Seaborn &amp; Matplolib  </vt:lpstr>
      <vt:lpstr>Date: 18/08/2023  Day: Friday  Task 9.1: Basic types of machine learning and algorithm </vt:lpstr>
      <vt:lpstr>Task 9.3: Types of classification algorithm </vt:lpstr>
      <vt:lpstr>Task 9.4: Types of regression algorithm </vt:lpstr>
      <vt:lpstr>Date: 23/08/2023  Day: Monday  Task10: Column Transformation   </vt:lpstr>
      <vt:lpstr>2.Encoding Categorical Variables: Categorical variables are non-numeric, and many machine learning algorithms require numeric inputs. Common techniques for encoding categorical variables include one-hot encoding and label encoding. </vt:lpstr>
      <vt:lpstr>Date: 24/08/2023  Day: Tuesday  Task11: Power Transformation Technique  </vt:lpstr>
      <vt:lpstr>Date: 25/08/2023  Day: Wednesday  Task12: Feature Selection in ML   </vt:lpstr>
      <vt:lpstr>3.Embedded Methods: Embedded methods incorporate feature selection as part of the model training process. These methods select features during the model's training based on their importance. </vt:lpstr>
      <vt:lpstr>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Description   Data Science: Data science is a multidisciplinary field that combines various techniques, algorithms, processes, and systems to extract valuable insights and knowledge from data. It involves collecting, cleaning, analyzing, and interpreting data to solve complex problems and make informed decisions. Data scientists utilize statistical methods, programming skills, and domain expertise to uncover patterns, trends, and correlations in data, ultimately enabling organizations to optimize processes, predict outcomes, and gain a competitive edge.     Machine Learning: Machine learning is a subset of artificial intelligence that focuses on developing algorithms and models that enable computers to learn from and make predictions or decisions based on data. It involves training algorithms on large datasets to recognize patterns and relationships, allowing them to improve their performance over time. Machine learning techniques include supervised learning (learning from labeled data), unsupervised learning (finding patterns in unlabeled data), and reinforcement learning (learning through trial and error). Applications of machine learning range from image and speech recognition to recommendation systems and autonomous vehicles.</dc:title>
  <dc:creator>Dhaval Vasani</dc:creator>
  <cp:lastModifiedBy>Dhaval Vasani</cp:lastModifiedBy>
  <cp:revision>27</cp:revision>
  <dcterms:created xsi:type="dcterms:W3CDTF">2023-09-01T15:27:33Z</dcterms:created>
  <dcterms:modified xsi:type="dcterms:W3CDTF">2023-09-11T03:32:04Z</dcterms:modified>
</cp:coreProperties>
</file>